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Play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g/DJe5MGotqNu5MK2hzE0YJRpO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ec461e91f0_0_0:notes"/>
          <p:cNvSpPr txBox="1">
            <a:spLocks noGrp="1"/>
          </p:cNvSpPr>
          <p:nvPr>
            <p:ph type="body" idx="1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g3ec461e91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376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c461e91f0_0_200:notes"/>
          <p:cNvSpPr txBox="1">
            <a:spLocks noGrp="1"/>
          </p:cNvSpPr>
          <p:nvPr>
            <p:ph type="body" idx="1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g3ec461e91f0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376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c461e91f0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ec461e91f0_0_2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ec461e91f0_0_2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c461e91f0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ec461e91f0_0_3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ec461e91f0_0_3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c461e91f0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ec461e91f0_0_4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ec461e91f0_0_4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c461e91f0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3ec461e91f0_0_4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ec461e91f0_0_4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c461e91f0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ec461e91f0_0_5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ec461e91f0_0_5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14974662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f14974662c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f14974662c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14974662c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f14974662c_0_5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f14974662c_0_5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14974662c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f14974662c_0_4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f14974662c_0_4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14974662c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3f14974662c_0_4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f14974662c_0_4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ec461e91f0_0_9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ec461e91f0_0_9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g3ec461e91f0_0_9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0" y="0"/>
            <a:ext cx="1008668" cy="6858000"/>
          </a:xfrm>
          <a:prstGeom prst="rect">
            <a:avLst/>
          </a:prstGeom>
          <a:solidFill>
            <a:srgbClr val="0B1F4D"/>
          </a:solidFill>
          <a:ln w="12700" cap="flat" cmpd="sng">
            <a:solidFill>
              <a:srgbClr val="0B1F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339225" y="1701503"/>
            <a:ext cx="74115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0" tIns="450" rIns="450" bIns="45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3641"/>
              <a:buFont typeface="Play"/>
              <a:buNone/>
            </a:pPr>
            <a:r>
              <a:rPr lang="en-US" sz="3641" b="1" i="0" u="none" strike="noStrike" cap="none" dirty="0">
                <a:solidFill>
                  <a:srgbClr val="0B1F4D"/>
                </a:solidFill>
                <a:latin typeface="Play"/>
                <a:ea typeface="Play"/>
                <a:cs typeface="Play"/>
                <a:sym typeface="Play"/>
              </a:rPr>
              <a:t>Performance Comparison</a:t>
            </a:r>
            <a:endParaRPr sz="3641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3641"/>
              <a:buFont typeface="Play"/>
              <a:buNone/>
            </a:pPr>
            <a:r>
              <a:rPr lang="en-US" sz="3641" b="1" i="0" u="none" strike="noStrike" cap="none" dirty="0">
                <a:solidFill>
                  <a:srgbClr val="0B1F4D"/>
                </a:solidFill>
                <a:latin typeface="Play"/>
                <a:ea typeface="Play"/>
                <a:cs typeface="Play"/>
                <a:sym typeface="Play"/>
              </a:rPr>
              <a:t>of Machine Learning Models</a:t>
            </a:r>
            <a:endParaRPr sz="3641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3641"/>
              <a:buFont typeface="Play"/>
              <a:buNone/>
            </a:pPr>
            <a:r>
              <a:rPr lang="en-US" sz="3641" b="1" i="0" u="none" strike="noStrike" cap="none" dirty="0">
                <a:solidFill>
                  <a:srgbClr val="0B1F4D"/>
                </a:solidFill>
                <a:latin typeface="Play"/>
                <a:ea typeface="Play"/>
                <a:cs typeface="Play"/>
                <a:sym typeface="Play"/>
              </a:rPr>
              <a:t>in Phishing Email Classification</a:t>
            </a:r>
            <a:endParaRPr sz="3641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1339225" y="3702377"/>
            <a:ext cx="6229800" cy="0"/>
          </a:xfrm>
          <a:prstGeom prst="straightConnector1">
            <a:avLst/>
          </a:prstGeom>
          <a:noFill/>
          <a:ln w="29825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"/>
          <p:cNvSpPr/>
          <p:nvPr/>
        </p:nvSpPr>
        <p:spPr>
          <a:xfrm>
            <a:off x="1339225" y="4121958"/>
            <a:ext cx="64446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0" tIns="450" rIns="450" bIns="45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62"/>
              <a:buFont typeface="Arial"/>
              <a:buNone/>
            </a:pPr>
            <a:r>
              <a:rPr lang="en-US" sz="1762" b="1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Research Methodology Presentation</a:t>
            </a:r>
            <a:endParaRPr sz="1762" b="1" dirty="0">
              <a:solidFill>
                <a:srgbClr val="475569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62"/>
              <a:buFont typeface="Arial"/>
              <a:buNone/>
            </a:pPr>
            <a:endParaRPr sz="1762" b="1" dirty="0">
              <a:solidFill>
                <a:srgbClr val="475569"/>
              </a:solidFill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339225" y="4683110"/>
            <a:ext cx="64446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0" tIns="450" rIns="450" bIns="45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45"/>
              <a:buFont typeface="Arial"/>
              <a:buNone/>
            </a:pPr>
            <a:r>
              <a:rPr lang="en-US" sz="1645" b="1" dirty="0">
                <a:solidFill>
                  <a:srgbClr val="0F172A"/>
                </a:solidFill>
              </a:rPr>
              <a:t>2802416141 - </a:t>
            </a:r>
            <a:r>
              <a:rPr lang="en-US" sz="1645" b="1" i="0" u="none" strike="noStrike" cap="none" dirty="0">
                <a:solidFill>
                  <a:srgbClr val="0F172A"/>
                </a:solidFill>
              </a:rPr>
              <a:t>Nickholas Steven </a:t>
            </a:r>
            <a:r>
              <a:rPr lang="en-US" sz="1645" b="1" i="0" u="none" strike="noStrike" cap="none" dirty="0" err="1">
                <a:solidFill>
                  <a:srgbClr val="0F172A"/>
                </a:solidFill>
              </a:rPr>
              <a:t>Sukmadjaja</a:t>
            </a:r>
            <a:endParaRPr sz="1645" b="1" i="0" u="none" strike="noStrike" cap="none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45"/>
              <a:buFont typeface="Arial"/>
              <a:buNone/>
            </a:pPr>
            <a:r>
              <a:rPr lang="en-US" sz="1645" b="1" i="0" u="none" strike="noStrike" cap="none" dirty="0">
                <a:solidFill>
                  <a:srgbClr val="0F172A"/>
                </a:solidFill>
              </a:rPr>
              <a:t>Computer Science Department, Bina Nusantara University</a:t>
            </a:r>
            <a:endParaRPr sz="1645" b="1" i="0" u="none" strike="noStrike" cap="none" dirty="0">
              <a:solidFill>
                <a:schemeClr val="dk1"/>
              </a:solidFill>
            </a:endParaRPr>
          </a:p>
        </p:txBody>
      </p:sp>
      <p:pic>
        <p:nvPicPr>
          <p:cNvPr id="2" name="Picture 1" descr="Logo BINUS – School of Computer Science – School of Computer ...">
            <a:extLst>
              <a:ext uri="{FF2B5EF4-FFF2-40B4-BE49-F238E27FC236}">
                <a16:creationId xmlns:a16="http://schemas.microsoft.com/office/drawing/2014/main" id="{47B0D841-38BF-CC47-FA4E-4DA995FDF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841" y="272143"/>
            <a:ext cx="2514306" cy="1195502"/>
          </a:xfrm>
          <a:prstGeom prst="rect">
            <a:avLst/>
          </a:prstGeom>
        </p:spPr>
      </p:pic>
      <p:pic>
        <p:nvPicPr>
          <p:cNvPr id="3" name="Picture 2" descr="ICISS 2026 - ICT for Smart Society Conference | Bandung">
            <a:extLst>
              <a:ext uri="{FF2B5EF4-FFF2-40B4-BE49-F238E27FC236}">
                <a16:creationId xmlns:a16="http://schemas.microsoft.com/office/drawing/2014/main" id="{70EABD90-ED0A-2383-683F-6F8E6C669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631" y="318739"/>
            <a:ext cx="2140769" cy="1200919"/>
          </a:xfrm>
          <a:prstGeom prst="rect">
            <a:avLst/>
          </a:prstGeom>
        </p:spPr>
      </p:pic>
      <p:cxnSp>
        <p:nvCxnSpPr>
          <p:cNvPr id="4" name="Google Shape;23;p1">
            <a:extLst>
              <a:ext uri="{FF2B5EF4-FFF2-40B4-BE49-F238E27FC236}">
                <a16:creationId xmlns:a16="http://schemas.microsoft.com/office/drawing/2014/main" id="{A6A9030E-A462-BA03-F035-B3D9ABD845B8}"/>
              </a:ext>
            </a:extLst>
          </p:cNvPr>
          <p:cNvCxnSpPr>
            <a:cxnSpLocks/>
          </p:cNvCxnSpPr>
          <p:nvPr/>
        </p:nvCxnSpPr>
        <p:spPr>
          <a:xfrm>
            <a:off x="1191602" y="869894"/>
            <a:ext cx="5265759" cy="49304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ec461e91f0_0_0"/>
          <p:cNvSpPr/>
          <p:nvPr/>
        </p:nvSpPr>
        <p:spPr>
          <a:xfrm>
            <a:off x="0" y="0"/>
            <a:ext cx="12191700" cy="658500"/>
          </a:xfrm>
          <a:prstGeom prst="rect">
            <a:avLst/>
          </a:prstGeom>
          <a:solidFill>
            <a:srgbClr val="091E4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ec461e91f0_0_0"/>
          <p:cNvSpPr txBox="1"/>
          <p:nvPr/>
        </p:nvSpPr>
        <p:spPr>
          <a:xfrm>
            <a:off x="502918" y="142232"/>
            <a:ext cx="1107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Introduction: Problem and Research Objective</a:t>
            </a:r>
            <a:endParaRPr/>
          </a:p>
        </p:txBody>
      </p:sp>
      <p:sp>
        <p:nvSpPr>
          <p:cNvPr id="32" name="Google Shape;32;g3ec461e91f0_0_0"/>
          <p:cNvSpPr/>
          <p:nvPr/>
        </p:nvSpPr>
        <p:spPr>
          <a:xfrm>
            <a:off x="502920" y="960120"/>
            <a:ext cx="3566100" cy="5166300"/>
          </a:xfrm>
          <a:prstGeom prst="roundRect">
            <a:avLst>
              <a:gd name="adj" fmla="val 16667"/>
            </a:avLst>
          </a:prstGeom>
          <a:solidFill>
            <a:srgbClr val="FAFDFF"/>
          </a:solidFill>
          <a:ln w="16500" cap="flat" cmpd="sng">
            <a:solidFill>
              <a:srgbClr val="CBD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ec461e91f0_0_0"/>
          <p:cNvSpPr/>
          <p:nvPr/>
        </p:nvSpPr>
        <p:spPr>
          <a:xfrm>
            <a:off x="612648" y="1051560"/>
            <a:ext cx="3346800" cy="310800"/>
          </a:xfrm>
          <a:prstGeom prst="roundRect">
            <a:avLst>
              <a:gd name="adj" fmla="val 16667"/>
            </a:avLst>
          </a:prstGeom>
          <a:solidFill>
            <a:srgbClr val="091E4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ec461e91f0_0_0"/>
          <p:cNvSpPr txBox="1"/>
          <p:nvPr/>
        </p:nvSpPr>
        <p:spPr>
          <a:xfrm>
            <a:off x="722376" y="1054631"/>
            <a:ext cx="312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Problem</a:t>
            </a:r>
            <a:endParaRPr/>
          </a:p>
        </p:txBody>
      </p:sp>
      <p:sp>
        <p:nvSpPr>
          <p:cNvPr id="35" name="Google Shape;35;g3ec461e91f0_0_0"/>
          <p:cNvSpPr txBox="1"/>
          <p:nvPr/>
        </p:nvSpPr>
        <p:spPr>
          <a:xfrm>
            <a:off x="703907" y="1559727"/>
            <a:ext cx="3154800" cy="3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457200" marR="0" lvl="0" indent="-320675" algn="l" rtl="0">
              <a:spcBef>
                <a:spcPts val="0"/>
              </a:spcBef>
              <a:spcAft>
                <a:spcPts val="0"/>
              </a:spcAft>
              <a:buClr>
                <a:srgbClr val="142032"/>
              </a:buClr>
              <a:buSzPts val="1450"/>
              <a:buFont typeface="Arial"/>
              <a:buChar char="-"/>
            </a:pPr>
            <a:r>
              <a:rPr lang="en-US" sz="1450" b="0" i="0" u="none" strike="noStrike" cap="none">
                <a:solidFill>
                  <a:srgbClr val="142032"/>
                </a:solidFill>
                <a:latin typeface="Arial"/>
                <a:ea typeface="Arial"/>
                <a:cs typeface="Arial"/>
                <a:sym typeface="Arial"/>
              </a:rPr>
              <a:t>Phishing emails deceive users into revealing credentials, financial data, or personal information.</a:t>
            </a:r>
            <a:endParaRPr sz="1450" b="0" i="0" u="none" strike="noStrike" cap="none">
              <a:solidFill>
                <a:srgbClr val="14203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>
              <a:solidFill>
                <a:srgbClr val="142032"/>
              </a:solidFill>
            </a:endParaRPr>
          </a:p>
          <a:p>
            <a:pPr marL="457200" marR="0" lvl="0" indent="-320675" algn="l" rtl="0">
              <a:spcBef>
                <a:spcPts val="400"/>
              </a:spcBef>
              <a:spcAft>
                <a:spcPts val="0"/>
              </a:spcAft>
              <a:buClr>
                <a:srgbClr val="142032"/>
              </a:buClr>
              <a:buSzPts val="1450"/>
              <a:buFont typeface="Arial"/>
              <a:buChar char="-"/>
            </a:pPr>
            <a:r>
              <a:rPr lang="en-US" sz="1450" b="0" i="0" u="none" strike="noStrike" cap="none">
                <a:solidFill>
                  <a:srgbClr val="142032"/>
                </a:solidFill>
                <a:latin typeface="Arial"/>
                <a:ea typeface="Arial"/>
                <a:cs typeface="Arial"/>
                <a:sym typeface="Arial"/>
              </a:rPr>
              <a:t>Modern phishing messages increasingly resemble legitimate business communication.</a:t>
            </a:r>
            <a:endParaRPr sz="1450" b="0" i="0" u="none" strike="noStrike" cap="none">
              <a:solidFill>
                <a:srgbClr val="14203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450">
              <a:solidFill>
                <a:srgbClr val="142032"/>
              </a:solidFill>
            </a:endParaRPr>
          </a:p>
          <a:p>
            <a:pPr marL="457200" marR="0" lvl="0" indent="-320675" algn="l" rtl="0">
              <a:spcBef>
                <a:spcPts val="400"/>
              </a:spcBef>
              <a:spcAft>
                <a:spcPts val="0"/>
              </a:spcAft>
              <a:buClr>
                <a:srgbClr val="142032"/>
              </a:buClr>
              <a:buSzPts val="1450"/>
              <a:buFont typeface="Arial"/>
              <a:buChar char="-"/>
            </a:pPr>
            <a:r>
              <a:rPr lang="en-US" sz="1450" b="0" i="0" u="none" strike="noStrike" cap="none">
                <a:solidFill>
                  <a:srgbClr val="142032"/>
                </a:solidFill>
                <a:latin typeface="Arial"/>
                <a:ea typeface="Arial"/>
                <a:cs typeface="Arial"/>
                <a:sym typeface="Arial"/>
              </a:rPr>
              <a:t>Manual detection is difficult because attackers modify content, sender details, and embedded links.</a:t>
            </a:r>
            <a:endParaRPr/>
          </a:p>
        </p:txBody>
      </p:sp>
      <p:sp>
        <p:nvSpPr>
          <p:cNvPr id="36" name="Google Shape;36;g3ec461e91f0_0_0"/>
          <p:cNvSpPr/>
          <p:nvPr/>
        </p:nvSpPr>
        <p:spPr>
          <a:xfrm>
            <a:off x="4343400" y="960120"/>
            <a:ext cx="3566100" cy="5166300"/>
          </a:xfrm>
          <a:prstGeom prst="roundRect">
            <a:avLst>
              <a:gd name="adj" fmla="val 16667"/>
            </a:avLst>
          </a:prstGeom>
          <a:solidFill>
            <a:srgbClr val="FAFDFF"/>
          </a:solidFill>
          <a:ln w="16500" cap="flat" cmpd="sng">
            <a:solidFill>
              <a:srgbClr val="CBD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ec461e91f0_0_0"/>
          <p:cNvSpPr/>
          <p:nvPr/>
        </p:nvSpPr>
        <p:spPr>
          <a:xfrm>
            <a:off x="4453128" y="1051560"/>
            <a:ext cx="3346800" cy="310800"/>
          </a:xfrm>
          <a:prstGeom prst="roundRect">
            <a:avLst>
              <a:gd name="adj" fmla="val 16667"/>
            </a:avLst>
          </a:prstGeom>
          <a:solidFill>
            <a:srgbClr val="091E4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ec461e91f0_0_0"/>
          <p:cNvSpPr txBox="1"/>
          <p:nvPr/>
        </p:nvSpPr>
        <p:spPr>
          <a:xfrm>
            <a:off x="4562856" y="1054631"/>
            <a:ext cx="312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Real-world urgency</a:t>
            </a:r>
            <a:endParaRPr/>
          </a:p>
        </p:txBody>
      </p:sp>
      <p:sp>
        <p:nvSpPr>
          <p:cNvPr id="39" name="Google Shape;39;g3ec461e91f0_0_0"/>
          <p:cNvSpPr txBox="1"/>
          <p:nvPr/>
        </p:nvSpPr>
        <p:spPr>
          <a:xfrm>
            <a:off x="4549062" y="1583460"/>
            <a:ext cx="3154800" cy="24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457200" marR="0" lvl="0" indent="-320675" algn="l" rtl="0">
              <a:spcBef>
                <a:spcPts val="0"/>
              </a:spcBef>
              <a:spcAft>
                <a:spcPts val="0"/>
              </a:spcAft>
              <a:buClr>
                <a:srgbClr val="142032"/>
              </a:buClr>
              <a:buSzPts val="1450"/>
              <a:buFont typeface="Arial"/>
              <a:buChar char="-"/>
            </a:pPr>
            <a:r>
              <a:rPr lang="en-US" sz="1450" b="0" i="0" u="none" strike="noStrike" cap="none">
                <a:solidFill>
                  <a:srgbClr val="142032"/>
                </a:solidFill>
                <a:latin typeface="Arial"/>
                <a:ea typeface="Arial"/>
                <a:cs typeface="Arial"/>
                <a:sym typeface="Arial"/>
              </a:rPr>
              <a:t>Phishing remains a large-scale cybersecurity threat.</a:t>
            </a:r>
            <a:endParaRPr sz="1450" b="0" i="0" u="none" strike="noStrike" cap="none">
              <a:solidFill>
                <a:srgbClr val="14203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>
              <a:solidFill>
                <a:srgbClr val="142032"/>
              </a:solidFill>
            </a:endParaRPr>
          </a:p>
          <a:p>
            <a:pPr marL="457200" marR="0" lvl="0" indent="-320675" algn="l" rtl="0">
              <a:spcBef>
                <a:spcPts val="400"/>
              </a:spcBef>
              <a:spcAft>
                <a:spcPts val="0"/>
              </a:spcAft>
              <a:buClr>
                <a:srgbClr val="142032"/>
              </a:buClr>
              <a:buSzPts val="1450"/>
              <a:buFont typeface="Arial"/>
              <a:buChar char="-"/>
            </a:pPr>
            <a:r>
              <a:rPr lang="en-US" sz="1450" b="0" i="0" u="none" strike="noStrike" cap="none">
                <a:solidFill>
                  <a:srgbClr val="142032"/>
                </a:solidFill>
                <a:latin typeface="Arial"/>
                <a:ea typeface="Arial"/>
                <a:cs typeface="Arial"/>
                <a:sym typeface="Arial"/>
              </a:rPr>
              <a:t>Before-the-click detection is important to reduce user exposure to malicious content.</a:t>
            </a:r>
            <a:endParaRPr sz="1450" b="0" i="0" u="none" strike="noStrike" cap="none">
              <a:solidFill>
                <a:srgbClr val="14203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450">
              <a:solidFill>
                <a:srgbClr val="142032"/>
              </a:solidFill>
            </a:endParaRPr>
          </a:p>
          <a:p>
            <a:pPr marL="457200" marR="0" lvl="0" indent="-320675" algn="l" rtl="0">
              <a:spcBef>
                <a:spcPts val="400"/>
              </a:spcBef>
              <a:spcAft>
                <a:spcPts val="0"/>
              </a:spcAft>
              <a:buClr>
                <a:srgbClr val="142032"/>
              </a:buClr>
              <a:buSzPts val="1450"/>
              <a:buFont typeface="Arial"/>
              <a:buChar char="-"/>
            </a:pPr>
            <a:r>
              <a:rPr lang="en-US" sz="1450" b="0" i="0" u="none" strike="noStrike" cap="none">
                <a:solidFill>
                  <a:srgbClr val="142032"/>
                </a:solidFill>
                <a:latin typeface="Arial"/>
                <a:ea typeface="Arial"/>
                <a:cs typeface="Arial"/>
                <a:sym typeface="Arial"/>
              </a:rPr>
              <a:t>Traditional blacklists and rule-based filtering can be bypassed by adaptive attacks.</a:t>
            </a:r>
            <a:endParaRPr/>
          </a:p>
        </p:txBody>
      </p:sp>
      <p:sp>
        <p:nvSpPr>
          <p:cNvPr id="40" name="Google Shape;40;g3ec461e91f0_0_0"/>
          <p:cNvSpPr/>
          <p:nvPr/>
        </p:nvSpPr>
        <p:spPr>
          <a:xfrm>
            <a:off x="8183879" y="960120"/>
            <a:ext cx="3520500" cy="5166300"/>
          </a:xfrm>
          <a:prstGeom prst="roundRect">
            <a:avLst>
              <a:gd name="adj" fmla="val 16667"/>
            </a:avLst>
          </a:prstGeom>
          <a:solidFill>
            <a:srgbClr val="FAFDFF"/>
          </a:solidFill>
          <a:ln w="16500" cap="flat" cmpd="sng">
            <a:solidFill>
              <a:srgbClr val="CBD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ec461e91f0_0_0"/>
          <p:cNvSpPr/>
          <p:nvPr/>
        </p:nvSpPr>
        <p:spPr>
          <a:xfrm>
            <a:off x="8293607" y="1051560"/>
            <a:ext cx="3300900" cy="310800"/>
          </a:xfrm>
          <a:prstGeom prst="roundRect">
            <a:avLst>
              <a:gd name="adj" fmla="val 16667"/>
            </a:avLst>
          </a:prstGeom>
          <a:solidFill>
            <a:srgbClr val="091E4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ec461e91f0_0_0"/>
          <p:cNvSpPr txBox="1"/>
          <p:nvPr/>
        </p:nvSpPr>
        <p:spPr>
          <a:xfrm>
            <a:off x="8403335" y="1054631"/>
            <a:ext cx="30816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Research solution</a:t>
            </a:r>
            <a:endParaRPr/>
          </a:p>
        </p:txBody>
      </p:sp>
      <p:sp>
        <p:nvSpPr>
          <p:cNvPr id="43" name="Google Shape;43;g3ec461e91f0_0_0"/>
          <p:cNvSpPr txBox="1"/>
          <p:nvPr/>
        </p:nvSpPr>
        <p:spPr>
          <a:xfrm>
            <a:off x="8394192" y="1555027"/>
            <a:ext cx="30633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457200" marR="0" lvl="0" indent="-320675" algn="l" rtl="0">
              <a:spcBef>
                <a:spcPts val="0"/>
              </a:spcBef>
              <a:spcAft>
                <a:spcPts val="0"/>
              </a:spcAft>
              <a:buClr>
                <a:srgbClr val="142032"/>
              </a:buClr>
              <a:buSzPts val="1450"/>
              <a:buFont typeface="Arial"/>
              <a:buChar char="-"/>
            </a:pPr>
            <a:r>
              <a:rPr lang="en-US" sz="1450" b="0" i="0" u="none" strike="noStrike" cap="none">
                <a:solidFill>
                  <a:srgbClr val="142032"/>
                </a:solidFill>
                <a:latin typeface="Arial"/>
                <a:ea typeface="Arial"/>
                <a:cs typeface="Arial"/>
                <a:sym typeface="Arial"/>
              </a:rPr>
              <a:t>Use machine learning to classify emails as Legitimate or Phishing.</a:t>
            </a:r>
            <a:endParaRPr sz="1450" b="0" i="0" u="none" strike="noStrike" cap="none">
              <a:solidFill>
                <a:srgbClr val="14203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>
              <a:solidFill>
                <a:srgbClr val="142032"/>
              </a:solidFill>
            </a:endParaRPr>
          </a:p>
          <a:p>
            <a:pPr marL="457200" marR="0" lvl="0" indent="-320675" algn="l" rtl="0">
              <a:spcBef>
                <a:spcPts val="400"/>
              </a:spcBef>
              <a:spcAft>
                <a:spcPts val="0"/>
              </a:spcAft>
              <a:buClr>
                <a:srgbClr val="142032"/>
              </a:buClr>
              <a:buSzPts val="1450"/>
              <a:buFont typeface="Arial"/>
              <a:buChar char="-"/>
            </a:pPr>
            <a:r>
              <a:rPr lang="en-US" sz="1450" b="0" i="0" u="none" strike="noStrike" cap="none">
                <a:solidFill>
                  <a:srgbClr val="142032"/>
                </a:solidFill>
                <a:latin typeface="Arial"/>
                <a:ea typeface="Arial"/>
                <a:cs typeface="Arial"/>
                <a:sym typeface="Arial"/>
              </a:rPr>
              <a:t>Transform email body text using TF-IDF and add email length as a structural feature.</a:t>
            </a:r>
            <a:endParaRPr sz="1450" b="0" i="0" u="none" strike="noStrike" cap="none">
              <a:solidFill>
                <a:srgbClr val="14203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450">
              <a:solidFill>
                <a:srgbClr val="142032"/>
              </a:solidFill>
            </a:endParaRPr>
          </a:p>
          <a:p>
            <a:pPr marL="457200" marR="0" lvl="0" indent="-320675" algn="l" rtl="0">
              <a:spcBef>
                <a:spcPts val="400"/>
              </a:spcBef>
              <a:spcAft>
                <a:spcPts val="0"/>
              </a:spcAft>
              <a:buClr>
                <a:srgbClr val="142032"/>
              </a:buClr>
              <a:buSzPts val="1450"/>
              <a:buFont typeface="Arial"/>
              <a:buChar char="-"/>
            </a:pPr>
            <a:r>
              <a:rPr lang="en-US" sz="1450" b="0" i="0" u="none" strike="noStrike" cap="none">
                <a:solidFill>
                  <a:srgbClr val="142032"/>
                </a:solidFill>
                <a:latin typeface="Arial"/>
                <a:ea typeface="Arial"/>
                <a:cs typeface="Arial"/>
                <a:sym typeface="Arial"/>
              </a:rPr>
              <a:t>Compare Logistic Regression, SVM, Random Forest, Decision Tree, and Naive Bayes.</a:t>
            </a:r>
            <a:endParaRPr sz="1450" b="0" i="0" u="none" strike="noStrike" cap="none">
              <a:solidFill>
                <a:srgbClr val="14203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450">
              <a:solidFill>
                <a:srgbClr val="142032"/>
              </a:solidFill>
            </a:endParaRPr>
          </a:p>
          <a:p>
            <a:pPr marL="457200" lvl="0" indent="-320675" algn="l" rtl="0">
              <a:spcBef>
                <a:spcPts val="0"/>
              </a:spcBef>
              <a:spcAft>
                <a:spcPts val="0"/>
              </a:spcAft>
              <a:buClr>
                <a:srgbClr val="142032"/>
              </a:buClr>
              <a:buSzPts val="1450"/>
              <a:buChar char="-"/>
            </a:pPr>
            <a:r>
              <a:rPr lang="en-US" sz="1600">
                <a:solidFill>
                  <a:srgbClr val="1E293B"/>
                </a:solidFill>
              </a:rPr>
              <a:t>Evaluate performance using Accuracy, Precision, Recall, F1-score, and ROC-AUC.</a:t>
            </a:r>
            <a:endParaRPr sz="1450">
              <a:solidFill>
                <a:srgbClr val="142032"/>
              </a:solidFill>
            </a:endParaRPr>
          </a:p>
        </p:txBody>
      </p:sp>
      <p:sp>
        <p:nvSpPr>
          <p:cNvPr id="44" name="Google Shape;44;g3ec461e91f0_0_0"/>
          <p:cNvSpPr/>
          <p:nvPr/>
        </p:nvSpPr>
        <p:spPr>
          <a:xfrm>
            <a:off x="929538" y="5921232"/>
            <a:ext cx="10332600" cy="594300"/>
          </a:xfrm>
          <a:prstGeom prst="roundRect">
            <a:avLst>
              <a:gd name="adj" fmla="val 16667"/>
            </a:avLst>
          </a:prstGeom>
          <a:solidFill>
            <a:srgbClr val="E7F1FF"/>
          </a:solidFill>
          <a:ln w="16500" cap="flat" cmpd="sng">
            <a:solidFill>
              <a:srgbClr val="90BC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ec461e91f0_0_0"/>
          <p:cNvSpPr txBox="1"/>
          <p:nvPr/>
        </p:nvSpPr>
        <p:spPr>
          <a:xfrm>
            <a:off x="929550" y="6094266"/>
            <a:ext cx="103326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91E4E"/>
                </a:solidFill>
                <a:latin typeface="Arial"/>
                <a:ea typeface="Arial"/>
                <a:cs typeface="Arial"/>
                <a:sym typeface="Arial"/>
              </a:rPr>
              <a:t>Research aim: </a:t>
            </a:r>
            <a:r>
              <a:rPr lang="en-US" b="1">
                <a:solidFill>
                  <a:srgbClr val="091E4E"/>
                </a:solidFill>
              </a:rPr>
              <a:t>D</a:t>
            </a:r>
            <a:r>
              <a:rPr lang="en-US" b="1" i="0" u="none" strike="noStrike" cap="none">
                <a:solidFill>
                  <a:srgbClr val="091E4E"/>
                </a:solidFill>
                <a:latin typeface="Arial"/>
                <a:ea typeface="Arial"/>
                <a:cs typeface="Arial"/>
                <a:sym typeface="Arial"/>
              </a:rPr>
              <a:t>etermine which classical machine learning model performs best for phishing email classification.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ec461e91f0_0_200"/>
          <p:cNvSpPr/>
          <p:nvPr/>
        </p:nvSpPr>
        <p:spPr>
          <a:xfrm>
            <a:off x="0" y="0"/>
            <a:ext cx="12191700" cy="658500"/>
          </a:xfrm>
          <a:prstGeom prst="rect">
            <a:avLst/>
          </a:prstGeom>
          <a:solidFill>
            <a:srgbClr val="091E4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ec461e91f0_0_200"/>
          <p:cNvSpPr txBox="1"/>
          <p:nvPr/>
        </p:nvSpPr>
        <p:spPr>
          <a:xfrm>
            <a:off x="502918" y="142232"/>
            <a:ext cx="1107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Literature Review &amp; Research Gap</a:t>
            </a:r>
            <a:endParaRPr/>
          </a:p>
        </p:txBody>
      </p:sp>
      <p:sp>
        <p:nvSpPr>
          <p:cNvPr id="52" name="Google Shape;52;g3ec461e91f0_0_200"/>
          <p:cNvSpPr/>
          <p:nvPr/>
        </p:nvSpPr>
        <p:spPr>
          <a:xfrm>
            <a:off x="502920" y="960120"/>
            <a:ext cx="3566100" cy="5166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6500" cap="flat" cmpd="sng">
            <a:solidFill>
              <a:srgbClr val="CBD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ec461e91f0_0_200"/>
          <p:cNvSpPr/>
          <p:nvPr/>
        </p:nvSpPr>
        <p:spPr>
          <a:xfrm>
            <a:off x="612648" y="1051560"/>
            <a:ext cx="3346800" cy="310800"/>
          </a:xfrm>
          <a:prstGeom prst="roundRect">
            <a:avLst>
              <a:gd name="adj" fmla="val 16667"/>
            </a:avLst>
          </a:prstGeom>
          <a:solidFill>
            <a:srgbClr val="091E4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ec461e91f0_0_200"/>
          <p:cNvSpPr txBox="1"/>
          <p:nvPr/>
        </p:nvSpPr>
        <p:spPr>
          <a:xfrm>
            <a:off x="722376" y="1054631"/>
            <a:ext cx="312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What Prior Studies Show</a:t>
            </a:r>
            <a:endParaRPr/>
          </a:p>
        </p:txBody>
      </p:sp>
      <p:sp>
        <p:nvSpPr>
          <p:cNvPr id="55" name="Google Shape;55;g3ec461e91f0_0_200"/>
          <p:cNvSpPr txBox="1"/>
          <p:nvPr/>
        </p:nvSpPr>
        <p:spPr>
          <a:xfrm>
            <a:off x="703907" y="1829127"/>
            <a:ext cx="3154800" cy="2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42032"/>
              </a:buClr>
              <a:buSzPts val="1400"/>
              <a:buChar char="-"/>
            </a:pPr>
            <a:r>
              <a:rPr lang="en-US">
                <a:solidFill>
                  <a:srgbClr val="142032"/>
                </a:solidFill>
              </a:rPr>
              <a:t>Phishing email detection has shifted toward automated and data-driven approaches.</a:t>
            </a:r>
            <a:endParaRPr>
              <a:solidFill>
                <a:srgbClr val="14203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42032"/>
              </a:solidFill>
            </a:endParaRPr>
          </a:p>
          <a:p>
            <a:pPr marL="457200" lvl="0" indent="-317500" algn="l" rtl="0">
              <a:spcBef>
                <a:spcPts val="400"/>
              </a:spcBef>
              <a:spcAft>
                <a:spcPts val="0"/>
              </a:spcAft>
              <a:buClr>
                <a:srgbClr val="142032"/>
              </a:buClr>
              <a:buSzPts val="1400"/>
              <a:buChar char="-"/>
            </a:pPr>
            <a:r>
              <a:rPr lang="en-US">
                <a:solidFill>
                  <a:srgbClr val="142032"/>
                </a:solidFill>
              </a:rPr>
              <a:t>Feature extraction is central because email text must become numerical representation.</a:t>
            </a:r>
            <a:endParaRPr>
              <a:solidFill>
                <a:srgbClr val="142032"/>
              </a:solidFill>
            </a:endParaRPr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rgbClr val="142032"/>
              </a:solidFill>
            </a:endParaRPr>
          </a:p>
          <a:p>
            <a:pPr marL="457200" lvl="0" indent="-317500" algn="l" rtl="0">
              <a:spcBef>
                <a:spcPts val="400"/>
              </a:spcBef>
              <a:spcAft>
                <a:spcPts val="0"/>
              </a:spcAft>
              <a:buClr>
                <a:srgbClr val="142032"/>
              </a:buClr>
              <a:buSzPts val="1400"/>
              <a:buChar char="-"/>
            </a:pPr>
            <a:r>
              <a:rPr lang="en-US">
                <a:solidFill>
                  <a:srgbClr val="142032"/>
                </a:solidFill>
              </a:rPr>
              <a:t>TF-IDF, word embeddings, and NLP-based features are frequently used.</a:t>
            </a:r>
            <a:endParaRPr sz="1450">
              <a:solidFill>
                <a:srgbClr val="142032"/>
              </a:solidFill>
            </a:endParaRPr>
          </a:p>
        </p:txBody>
      </p:sp>
      <p:sp>
        <p:nvSpPr>
          <p:cNvPr id="56" name="Google Shape;56;g3ec461e91f0_0_200"/>
          <p:cNvSpPr/>
          <p:nvPr/>
        </p:nvSpPr>
        <p:spPr>
          <a:xfrm>
            <a:off x="4343400" y="960120"/>
            <a:ext cx="3566100" cy="5166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6500" cap="flat" cmpd="sng">
            <a:solidFill>
              <a:srgbClr val="CBD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ec461e91f0_0_200"/>
          <p:cNvSpPr/>
          <p:nvPr/>
        </p:nvSpPr>
        <p:spPr>
          <a:xfrm>
            <a:off x="4453128" y="1051560"/>
            <a:ext cx="3346800" cy="310800"/>
          </a:xfrm>
          <a:prstGeom prst="roundRect">
            <a:avLst>
              <a:gd name="adj" fmla="val 16667"/>
            </a:avLst>
          </a:prstGeom>
          <a:solidFill>
            <a:srgbClr val="091E4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ec461e91f0_0_200"/>
          <p:cNvSpPr txBox="1"/>
          <p:nvPr/>
        </p:nvSpPr>
        <p:spPr>
          <a:xfrm>
            <a:off x="4562856" y="1054631"/>
            <a:ext cx="312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Classic Machine Learning</a:t>
            </a:r>
            <a:endParaRPr/>
          </a:p>
        </p:txBody>
      </p:sp>
      <p:sp>
        <p:nvSpPr>
          <p:cNvPr id="59" name="Google Shape;59;g3ec461e91f0_0_200"/>
          <p:cNvSpPr txBox="1"/>
          <p:nvPr/>
        </p:nvSpPr>
        <p:spPr>
          <a:xfrm>
            <a:off x="4549062" y="1828811"/>
            <a:ext cx="3154800" cy="16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42032"/>
              </a:buClr>
              <a:buSzPts val="1400"/>
              <a:buChar char="-"/>
            </a:pPr>
            <a:r>
              <a:rPr lang="en-US">
                <a:solidFill>
                  <a:srgbClr val="142032"/>
                </a:solidFill>
              </a:rPr>
              <a:t>Classical models are efficient, interpretable, and suitable for comparative classification tasks.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400"/>
              </a:spcBef>
              <a:spcAft>
                <a:spcPts val="0"/>
              </a:spcAft>
              <a:buClr>
                <a:srgbClr val="142032"/>
              </a:buClr>
              <a:buSzPts val="1400"/>
              <a:buChar char="-"/>
            </a:pPr>
            <a:r>
              <a:rPr lang="en-US">
                <a:solidFill>
                  <a:srgbClr val="142032"/>
                </a:solidFill>
              </a:rPr>
              <a:t>Traditional ML remains practical for resource-efficient phishing detection.</a:t>
            </a:r>
            <a:endParaRPr sz="1450">
              <a:solidFill>
                <a:srgbClr val="142032"/>
              </a:solidFill>
            </a:endParaRPr>
          </a:p>
        </p:txBody>
      </p:sp>
      <p:sp>
        <p:nvSpPr>
          <p:cNvPr id="60" name="Google Shape;60;g3ec461e91f0_0_200"/>
          <p:cNvSpPr/>
          <p:nvPr/>
        </p:nvSpPr>
        <p:spPr>
          <a:xfrm>
            <a:off x="8183879" y="960120"/>
            <a:ext cx="3520500" cy="5166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6500" cap="flat" cmpd="sng">
            <a:solidFill>
              <a:srgbClr val="CBD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ec461e91f0_0_200"/>
          <p:cNvSpPr/>
          <p:nvPr/>
        </p:nvSpPr>
        <p:spPr>
          <a:xfrm>
            <a:off x="8293607" y="1051560"/>
            <a:ext cx="3300900" cy="310800"/>
          </a:xfrm>
          <a:prstGeom prst="roundRect">
            <a:avLst>
              <a:gd name="adj" fmla="val 16667"/>
            </a:avLst>
          </a:prstGeom>
          <a:solidFill>
            <a:srgbClr val="091E4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ec461e91f0_0_200"/>
          <p:cNvSpPr txBox="1"/>
          <p:nvPr/>
        </p:nvSpPr>
        <p:spPr>
          <a:xfrm>
            <a:off x="8403335" y="1054631"/>
            <a:ext cx="30816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Reseacrh Gap</a:t>
            </a:r>
            <a:endParaRPr/>
          </a:p>
        </p:txBody>
      </p:sp>
      <p:sp>
        <p:nvSpPr>
          <p:cNvPr id="63" name="Google Shape;63;g3ec461e91f0_0_200"/>
          <p:cNvSpPr txBox="1"/>
          <p:nvPr/>
        </p:nvSpPr>
        <p:spPr>
          <a:xfrm>
            <a:off x="8394192" y="1837399"/>
            <a:ext cx="3063300" cy="2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42032"/>
              </a:buClr>
              <a:buSzPts val="1400"/>
              <a:buChar char="-"/>
            </a:pPr>
            <a:r>
              <a:rPr lang="en-US">
                <a:solidFill>
                  <a:srgbClr val="142032"/>
                </a:solidFill>
              </a:rPr>
              <a:t>A clear comparison of widely used classical ML models is still valuable.</a:t>
            </a:r>
            <a:endParaRPr>
              <a:solidFill>
                <a:srgbClr val="14203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42032"/>
              </a:solidFill>
            </a:endParaRPr>
          </a:p>
          <a:p>
            <a:pPr marL="457200" lvl="0" indent="-317500" algn="l" rtl="0">
              <a:spcBef>
                <a:spcPts val="400"/>
              </a:spcBef>
              <a:spcAft>
                <a:spcPts val="0"/>
              </a:spcAft>
              <a:buClr>
                <a:srgbClr val="142032"/>
              </a:buClr>
              <a:buSzPts val="1400"/>
              <a:buChar char="-"/>
            </a:pPr>
            <a:r>
              <a:rPr lang="en-US">
                <a:solidFill>
                  <a:srgbClr val="142032"/>
                </a:solidFill>
              </a:rPr>
              <a:t>This study combines TF-IDF email body features with a simple structural feature: body_length.</a:t>
            </a:r>
            <a:endParaRPr>
              <a:solidFill>
                <a:srgbClr val="142032"/>
              </a:solidFill>
            </a:endParaRPr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rgbClr val="142032"/>
              </a:solidFill>
            </a:endParaRPr>
          </a:p>
          <a:p>
            <a:pPr marL="457200" lvl="0" indent="-317500" algn="l" rtl="0">
              <a:spcBef>
                <a:spcPts val="400"/>
              </a:spcBef>
              <a:spcAft>
                <a:spcPts val="0"/>
              </a:spcAft>
              <a:buClr>
                <a:srgbClr val="142032"/>
              </a:buClr>
              <a:buSzPts val="1400"/>
              <a:buChar char="-"/>
            </a:pPr>
            <a:r>
              <a:rPr lang="en-US">
                <a:solidFill>
                  <a:srgbClr val="142032"/>
                </a:solidFill>
              </a:rPr>
              <a:t>The evaluation uses multiple metrics and visual diagnostics for model comparison.</a:t>
            </a:r>
            <a:endParaRPr sz="1450">
              <a:solidFill>
                <a:srgbClr val="142032"/>
              </a:solidFill>
            </a:endParaRPr>
          </a:p>
        </p:txBody>
      </p:sp>
      <p:sp>
        <p:nvSpPr>
          <p:cNvPr id="64" name="Google Shape;64;g3ec461e91f0_0_200"/>
          <p:cNvSpPr/>
          <p:nvPr/>
        </p:nvSpPr>
        <p:spPr>
          <a:xfrm>
            <a:off x="929538" y="5921232"/>
            <a:ext cx="10332600" cy="594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00" cap="flat" cmpd="sng">
            <a:solidFill>
              <a:srgbClr val="90BC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ec461e91f0_0_200"/>
          <p:cNvSpPr txBox="1"/>
          <p:nvPr/>
        </p:nvSpPr>
        <p:spPr>
          <a:xfrm>
            <a:off x="2286288" y="5992332"/>
            <a:ext cx="76191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91E4E"/>
                </a:solidFill>
              </a:rPr>
              <a:t>Contribution: a practical, interpretable, and computationally efficient comparison of five ML models for phishing email classification.</a:t>
            </a:r>
            <a:endParaRPr b="1">
              <a:solidFill>
                <a:srgbClr val="091E4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4D"/>
          </a:solidFill>
          <a:ln w="12700" cap="flat" cmpd="sng">
            <a:solidFill>
              <a:srgbClr val="0B1F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94360" y="534937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2600"/>
              <a:buFont typeface="Play"/>
              <a:buNone/>
            </a:pPr>
            <a:r>
              <a:rPr lang="en-US" sz="2600" b="1" i="0" u="none" strike="noStrike" cap="none">
                <a:solidFill>
                  <a:srgbClr val="0B1F4D"/>
                </a:solidFill>
                <a:latin typeface="Play"/>
                <a:ea typeface="Play"/>
                <a:cs typeface="Play"/>
                <a:sym typeface="Play"/>
              </a:rPr>
              <a:t>Dataset Description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5"/>
          <p:cNvCxnSpPr/>
          <p:nvPr/>
        </p:nvCxnSpPr>
        <p:spPr>
          <a:xfrm>
            <a:off x="594360" y="1128782"/>
            <a:ext cx="11018400" cy="0"/>
          </a:xfrm>
          <a:prstGeom prst="straightConnector1">
            <a:avLst/>
          </a:prstGeom>
          <a:noFill/>
          <a:ln w="15225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5"/>
          <p:cNvSpPr/>
          <p:nvPr/>
        </p:nvSpPr>
        <p:spPr>
          <a:xfrm>
            <a:off x="603059" y="1332507"/>
            <a:ext cx="521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B1F4D"/>
                </a:solidFill>
                <a:latin typeface="Arial"/>
                <a:ea typeface="Arial"/>
                <a:cs typeface="Arial"/>
                <a:sym typeface="Arial"/>
              </a:rPr>
              <a:t>CEAS 2008 Phishing Email Dataset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03168" y="1987235"/>
            <a:ext cx="4983600" cy="62190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39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767760" y="2077674"/>
            <a:ext cx="4654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Original attributes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767760" y="2346922"/>
            <a:ext cx="46542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sender, receiver, date, subject, body, URLs, label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5" descr="/mnt/data/final_paper_assets/p3_img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0928" y="2073811"/>
            <a:ext cx="4608995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6820305" y="5455361"/>
            <a:ext cx="4663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Class distribution shows a slight imbalance with phishing emails as the majority class.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1384280" y="6565392"/>
            <a:ext cx="25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27043" y="2892162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Selected variables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72758" y="3433820"/>
            <a:ext cx="1234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sz="1100" b="0" i="0" u="none" strike="noStrike" cap="none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952918" y="3433820"/>
            <a:ext cx="21489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 sz="1100" b="0" i="0" u="none" strike="noStrike" cap="none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58958" y="343382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 sz="1100" b="0" i="0" u="none" strike="noStrike" cap="none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5"/>
          <p:cNvCxnSpPr/>
          <p:nvPr/>
        </p:nvCxnSpPr>
        <p:spPr>
          <a:xfrm>
            <a:off x="627038" y="3708140"/>
            <a:ext cx="4663500" cy="0"/>
          </a:xfrm>
          <a:prstGeom prst="straightConnector1">
            <a:avLst/>
          </a:prstGeom>
          <a:noFill/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5"/>
          <p:cNvSpPr/>
          <p:nvPr/>
        </p:nvSpPr>
        <p:spPr>
          <a:xfrm>
            <a:off x="672758" y="3845300"/>
            <a:ext cx="123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952918" y="3845300"/>
            <a:ext cx="2148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full email text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558958" y="3845300"/>
            <a:ext cx="1051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5"/>
          <p:cNvCxnSpPr/>
          <p:nvPr/>
        </p:nvCxnSpPr>
        <p:spPr>
          <a:xfrm>
            <a:off x="627038" y="4211060"/>
            <a:ext cx="4663500" cy="0"/>
          </a:xfrm>
          <a:prstGeom prst="straightConnector1">
            <a:avLst/>
          </a:prstGeom>
          <a:noFill/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5"/>
          <p:cNvSpPr/>
          <p:nvPr/>
        </p:nvSpPr>
        <p:spPr>
          <a:xfrm>
            <a:off x="672758" y="4348220"/>
            <a:ext cx="123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952918" y="4348220"/>
            <a:ext cx="2148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0 = legitimate, 1 = phishing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58958" y="4348220"/>
            <a:ext cx="1051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5"/>
          <p:cNvCxnSpPr/>
          <p:nvPr/>
        </p:nvCxnSpPr>
        <p:spPr>
          <a:xfrm>
            <a:off x="627038" y="4713980"/>
            <a:ext cx="4663500" cy="0"/>
          </a:xfrm>
          <a:prstGeom prst="straightConnector1">
            <a:avLst/>
          </a:prstGeom>
          <a:noFill/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5"/>
          <p:cNvSpPr/>
          <p:nvPr/>
        </p:nvSpPr>
        <p:spPr>
          <a:xfrm>
            <a:off x="672758" y="4851140"/>
            <a:ext cx="123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body_length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952918" y="4851140"/>
            <a:ext cx="2148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number of email characters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58958" y="4851140"/>
            <a:ext cx="1051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Numeric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03043" y="5497798"/>
            <a:ext cx="4983600" cy="62190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39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767635" y="5588237"/>
            <a:ext cx="4654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1D4ED8"/>
                </a:solidFill>
              </a:rPr>
              <a:t>Target label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67635" y="5857484"/>
            <a:ext cx="46542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r>
              <a:rPr lang="en-US" sz="1040">
                <a:solidFill>
                  <a:srgbClr val="0F172A"/>
                </a:solidFill>
              </a:rPr>
              <a:t>0 = Legitimate, 1 = Phising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c461e91f0_0_270"/>
          <p:cNvSpPr/>
          <p:nvPr/>
        </p:nvSpPr>
        <p:spPr>
          <a:xfrm>
            <a:off x="0" y="0"/>
            <a:ext cx="12191700" cy="384000"/>
          </a:xfrm>
          <a:prstGeom prst="rect">
            <a:avLst/>
          </a:prstGeom>
          <a:solidFill>
            <a:srgbClr val="0B1F4D"/>
          </a:solidFill>
          <a:ln w="12700" cap="flat" cmpd="sng">
            <a:solidFill>
              <a:srgbClr val="0B1F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ec461e91f0_0_270"/>
          <p:cNvSpPr/>
          <p:nvPr/>
        </p:nvSpPr>
        <p:spPr>
          <a:xfrm>
            <a:off x="594360" y="534937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F4D"/>
                </a:solidFill>
                <a:latin typeface="Play"/>
                <a:ea typeface="Play"/>
                <a:cs typeface="Play"/>
                <a:sym typeface="Play"/>
              </a:rPr>
              <a:t>Research Workflow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g3ec461e91f0_0_270"/>
          <p:cNvCxnSpPr/>
          <p:nvPr/>
        </p:nvCxnSpPr>
        <p:spPr>
          <a:xfrm>
            <a:off x="594360" y="1128782"/>
            <a:ext cx="11018400" cy="0"/>
          </a:xfrm>
          <a:prstGeom prst="straightConnector1">
            <a:avLst/>
          </a:prstGeom>
          <a:noFill/>
          <a:ln w="15225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g3ec461e91f0_0_270"/>
          <p:cNvSpPr/>
          <p:nvPr/>
        </p:nvSpPr>
        <p:spPr>
          <a:xfrm>
            <a:off x="11384280" y="6565392"/>
            <a:ext cx="25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ec461e91f0_0_270"/>
          <p:cNvSpPr/>
          <p:nvPr/>
        </p:nvSpPr>
        <p:spPr>
          <a:xfrm>
            <a:off x="628934" y="1332954"/>
            <a:ext cx="1060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research workflow transforms raw email records into model-ready features, then evaluates five classifiers on unseen test data.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ec461e91f0_0_270" descr="/mnt/data/final_paper_assets/p2_img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547" y="2128038"/>
            <a:ext cx="1088200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ec461e91f0_0_270"/>
          <p:cNvSpPr/>
          <p:nvPr/>
        </p:nvSpPr>
        <p:spPr>
          <a:xfrm>
            <a:off x="594350" y="5449698"/>
            <a:ext cx="4983600" cy="74970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39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ec461e91f0_0_270"/>
          <p:cNvSpPr/>
          <p:nvPr/>
        </p:nvSpPr>
        <p:spPr>
          <a:xfrm>
            <a:off x="758935" y="5540149"/>
            <a:ext cx="4654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1D4ED8"/>
                </a:solidFill>
              </a:rPr>
              <a:t>Key Principle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ec461e91f0_0_270"/>
          <p:cNvSpPr/>
          <p:nvPr/>
        </p:nvSpPr>
        <p:spPr>
          <a:xfrm>
            <a:off x="758935" y="5807469"/>
            <a:ext cx="46542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r>
              <a:rPr lang="en-US" sz="1040">
                <a:solidFill>
                  <a:srgbClr val="0F172A"/>
                </a:solidFill>
              </a:rPr>
              <a:t>SMOTE is applied only to the training set, while the test set remains unchanged for unbiased evaluation.</a:t>
            </a:r>
            <a:endParaRPr sz="104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endParaRPr sz="1040">
              <a:solidFill>
                <a:srgbClr val="0F172A"/>
              </a:solidFill>
            </a:endParaRPr>
          </a:p>
        </p:txBody>
      </p:sp>
      <p:sp>
        <p:nvSpPr>
          <p:cNvPr id="114" name="Google Shape;114;g3ec461e91f0_0_270"/>
          <p:cNvSpPr/>
          <p:nvPr/>
        </p:nvSpPr>
        <p:spPr>
          <a:xfrm>
            <a:off x="6400550" y="5449700"/>
            <a:ext cx="4835400" cy="74970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39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ec461e91f0_0_270"/>
          <p:cNvSpPr/>
          <p:nvPr/>
        </p:nvSpPr>
        <p:spPr>
          <a:xfrm>
            <a:off x="6565127" y="5524006"/>
            <a:ext cx="3661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1D4ED8"/>
                </a:solidFill>
              </a:rPr>
              <a:t>Evaluation Metric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ec461e91f0_0_270"/>
          <p:cNvSpPr/>
          <p:nvPr/>
        </p:nvSpPr>
        <p:spPr>
          <a:xfrm>
            <a:off x="6565135" y="5806891"/>
            <a:ext cx="46542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r>
              <a:rPr lang="en-US" sz="1040">
                <a:solidFill>
                  <a:srgbClr val="0F172A"/>
                </a:solidFill>
              </a:rPr>
              <a:t>Accuracy, precision, recall, F1-score, ROC-AUC, ROC curve, and confusion matrix.</a:t>
            </a:r>
            <a:endParaRPr sz="104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endParaRPr sz="104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c461e91f0_0_317"/>
          <p:cNvSpPr/>
          <p:nvPr/>
        </p:nvSpPr>
        <p:spPr>
          <a:xfrm>
            <a:off x="0" y="0"/>
            <a:ext cx="12191700" cy="384000"/>
          </a:xfrm>
          <a:prstGeom prst="rect">
            <a:avLst/>
          </a:prstGeom>
          <a:solidFill>
            <a:srgbClr val="0B1F4D"/>
          </a:solidFill>
          <a:ln w="12700" cap="flat" cmpd="sng">
            <a:solidFill>
              <a:srgbClr val="0B1F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ec461e91f0_0_317"/>
          <p:cNvSpPr/>
          <p:nvPr/>
        </p:nvSpPr>
        <p:spPr>
          <a:xfrm>
            <a:off x="594360" y="534937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F4D"/>
                </a:solidFill>
                <a:latin typeface="Play"/>
                <a:ea typeface="Play"/>
                <a:cs typeface="Play"/>
                <a:sym typeface="Play"/>
              </a:rPr>
              <a:t>Exploratory Data Analysis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g3ec461e91f0_0_317"/>
          <p:cNvCxnSpPr/>
          <p:nvPr/>
        </p:nvCxnSpPr>
        <p:spPr>
          <a:xfrm>
            <a:off x="594360" y="1128782"/>
            <a:ext cx="11018400" cy="0"/>
          </a:xfrm>
          <a:prstGeom prst="straightConnector1">
            <a:avLst/>
          </a:prstGeom>
          <a:noFill/>
          <a:ln w="15225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Google Shape;125;g3ec461e91f0_0_317"/>
          <p:cNvSpPr/>
          <p:nvPr/>
        </p:nvSpPr>
        <p:spPr>
          <a:xfrm>
            <a:off x="11384280" y="6565392"/>
            <a:ext cx="25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ec461e91f0_0_317"/>
          <p:cNvSpPr/>
          <p:nvPr/>
        </p:nvSpPr>
        <p:spPr>
          <a:xfrm>
            <a:off x="502783" y="1332482"/>
            <a:ext cx="548640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00" cap="flat" cmpd="sng">
            <a:solidFill>
              <a:srgbClr val="CBD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ec461e91f0_0_317"/>
          <p:cNvSpPr/>
          <p:nvPr/>
        </p:nvSpPr>
        <p:spPr>
          <a:xfrm>
            <a:off x="612511" y="1423923"/>
            <a:ext cx="5266800" cy="310800"/>
          </a:xfrm>
          <a:prstGeom prst="roundRect">
            <a:avLst>
              <a:gd name="adj" fmla="val 16667"/>
            </a:avLst>
          </a:prstGeom>
          <a:solidFill>
            <a:srgbClr val="091E4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ec461e91f0_0_317"/>
          <p:cNvSpPr txBox="1"/>
          <p:nvPr/>
        </p:nvSpPr>
        <p:spPr>
          <a:xfrm>
            <a:off x="722239" y="1426993"/>
            <a:ext cx="5047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Label distribution</a:t>
            </a:r>
            <a:endParaRPr/>
          </a:p>
        </p:txBody>
      </p:sp>
      <p:pic>
        <p:nvPicPr>
          <p:cNvPr id="129" name="Google Shape;129;g3ec461e91f0_0_317" descr="ppt_label_distribut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543" y="1908346"/>
            <a:ext cx="4800601" cy="287163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ec461e91f0_0_317"/>
          <p:cNvSpPr/>
          <p:nvPr/>
        </p:nvSpPr>
        <p:spPr>
          <a:xfrm>
            <a:off x="868542" y="5035803"/>
            <a:ext cx="4800600" cy="777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6500" cap="flat" cmpd="sng">
            <a:solidFill>
              <a:srgbClr val="CBD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ec461e91f0_0_317"/>
          <p:cNvSpPr txBox="1"/>
          <p:nvPr/>
        </p:nvSpPr>
        <p:spPr>
          <a:xfrm>
            <a:off x="1051422" y="5191251"/>
            <a:ext cx="44349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091E4E"/>
                </a:solidFill>
                <a:latin typeface="Arial"/>
                <a:ea typeface="Arial"/>
                <a:cs typeface="Arial"/>
                <a:sym typeface="Arial"/>
              </a:rPr>
              <a:t>The dataset has two target classes with a slight imbalance; phishing emails are the majority class.</a:t>
            </a:r>
            <a:endParaRPr/>
          </a:p>
        </p:txBody>
      </p:sp>
      <p:sp>
        <p:nvSpPr>
          <p:cNvPr id="132" name="Google Shape;132;g3ec461e91f0_0_317"/>
          <p:cNvSpPr/>
          <p:nvPr/>
        </p:nvSpPr>
        <p:spPr>
          <a:xfrm>
            <a:off x="6263502" y="1332482"/>
            <a:ext cx="544080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00" cap="flat" cmpd="sng">
            <a:solidFill>
              <a:srgbClr val="CBD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ec461e91f0_0_317"/>
          <p:cNvSpPr/>
          <p:nvPr/>
        </p:nvSpPr>
        <p:spPr>
          <a:xfrm>
            <a:off x="6373230" y="1423923"/>
            <a:ext cx="5221200" cy="310800"/>
          </a:xfrm>
          <a:prstGeom prst="roundRect">
            <a:avLst>
              <a:gd name="adj" fmla="val 16667"/>
            </a:avLst>
          </a:prstGeom>
          <a:solidFill>
            <a:srgbClr val="091E4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ec461e91f0_0_317"/>
          <p:cNvSpPr txBox="1"/>
          <p:nvPr/>
        </p:nvSpPr>
        <p:spPr>
          <a:xfrm>
            <a:off x="6482958" y="1426993"/>
            <a:ext cx="5001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Email length distribution</a:t>
            </a:r>
            <a:endParaRPr/>
          </a:p>
        </p:txBody>
      </p:sp>
      <p:sp>
        <p:nvSpPr>
          <p:cNvPr id="135" name="Google Shape;135;g3ec461e91f0_0_317"/>
          <p:cNvSpPr/>
          <p:nvPr/>
        </p:nvSpPr>
        <p:spPr>
          <a:xfrm>
            <a:off x="6629263" y="5035803"/>
            <a:ext cx="4663500" cy="777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6500" cap="flat" cmpd="sng">
            <a:solidFill>
              <a:srgbClr val="CBD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ec461e91f0_0_317"/>
          <p:cNvSpPr txBox="1"/>
          <p:nvPr/>
        </p:nvSpPr>
        <p:spPr>
          <a:xfrm>
            <a:off x="6812118" y="5111388"/>
            <a:ext cx="42978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091E4E"/>
                </a:solidFill>
                <a:latin typeface="Arial"/>
                <a:ea typeface="Arial"/>
                <a:cs typeface="Arial"/>
                <a:sym typeface="Arial"/>
              </a:rPr>
              <a:t>Most emails are relatively short, while a small number have considerably longer content; this supports using body_length.</a:t>
            </a:r>
            <a:endParaRPr/>
          </a:p>
        </p:txBody>
      </p:sp>
      <p:pic>
        <p:nvPicPr>
          <p:cNvPr id="137" name="Google Shape;137;g3ec461e91f0_0_317" descr="/mnt/data/final_paper_assets/p3_img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3288" y="1940982"/>
            <a:ext cx="4901251" cy="2806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c461e91f0_0_454"/>
          <p:cNvSpPr/>
          <p:nvPr/>
        </p:nvSpPr>
        <p:spPr>
          <a:xfrm>
            <a:off x="0" y="0"/>
            <a:ext cx="12191700" cy="384000"/>
          </a:xfrm>
          <a:prstGeom prst="rect">
            <a:avLst/>
          </a:prstGeom>
          <a:solidFill>
            <a:srgbClr val="0B1F4D"/>
          </a:solidFill>
          <a:ln w="12700" cap="flat" cmpd="sng">
            <a:solidFill>
              <a:srgbClr val="0B1F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ec461e91f0_0_454"/>
          <p:cNvSpPr/>
          <p:nvPr/>
        </p:nvSpPr>
        <p:spPr>
          <a:xfrm>
            <a:off x="594360" y="534937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F4D"/>
                </a:solidFill>
                <a:latin typeface="Play"/>
                <a:ea typeface="Play"/>
                <a:cs typeface="Play"/>
                <a:sym typeface="Play"/>
              </a:rPr>
              <a:t>Feature Engineering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g3ec461e91f0_0_454"/>
          <p:cNvCxnSpPr/>
          <p:nvPr/>
        </p:nvCxnSpPr>
        <p:spPr>
          <a:xfrm>
            <a:off x="594360" y="1128782"/>
            <a:ext cx="11018400" cy="0"/>
          </a:xfrm>
          <a:prstGeom prst="straightConnector1">
            <a:avLst/>
          </a:prstGeom>
          <a:noFill/>
          <a:ln w="15225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Google Shape;146;g3ec461e91f0_0_454"/>
          <p:cNvSpPr/>
          <p:nvPr/>
        </p:nvSpPr>
        <p:spPr>
          <a:xfrm>
            <a:off x="594351" y="2313144"/>
            <a:ext cx="3826200" cy="19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-"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Email body was transformed using TF-IDF with the top 5,000 most informative terms.</a:t>
            </a:r>
            <a:endParaRPr sz="1800" b="0" i="0" u="none" strike="noStrike" cap="non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F172A"/>
              </a:solidFill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-"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body_length provides additional structural information.</a:t>
            </a:r>
            <a:endParaRPr sz="1800">
              <a:solidFill>
                <a:srgbClr val="0F172A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F172A"/>
              </a:solidFill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Char char="-"/>
            </a:pPr>
            <a:r>
              <a:rPr lang="en-US" sz="1800">
                <a:solidFill>
                  <a:srgbClr val="0F172A"/>
                </a:solidFill>
              </a:rPr>
              <a:t>The </a:t>
            </a: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engineered body_length feature was added as a sparse column vector, producing 5,001 total features.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g3ec461e91f0_0_454" descr="/mnt/data/final_paper_assets/p3_img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4900" y="2038400"/>
            <a:ext cx="6887849" cy="394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c461e91f0_0_477"/>
          <p:cNvSpPr/>
          <p:nvPr/>
        </p:nvSpPr>
        <p:spPr>
          <a:xfrm>
            <a:off x="0" y="0"/>
            <a:ext cx="12191700" cy="384000"/>
          </a:xfrm>
          <a:prstGeom prst="rect">
            <a:avLst/>
          </a:prstGeom>
          <a:solidFill>
            <a:srgbClr val="0B1F4D"/>
          </a:solidFill>
          <a:ln w="12700" cap="flat" cmpd="sng">
            <a:solidFill>
              <a:srgbClr val="0B1F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ec461e91f0_0_477"/>
          <p:cNvSpPr/>
          <p:nvPr/>
        </p:nvSpPr>
        <p:spPr>
          <a:xfrm>
            <a:off x="594360" y="534937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F4D"/>
                </a:solidFill>
                <a:latin typeface="Play"/>
                <a:ea typeface="Play"/>
                <a:cs typeface="Play"/>
                <a:sym typeface="Play"/>
              </a:rPr>
              <a:t>Experiment Setup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g3ec461e91f0_0_477"/>
          <p:cNvCxnSpPr/>
          <p:nvPr/>
        </p:nvCxnSpPr>
        <p:spPr>
          <a:xfrm>
            <a:off x="594360" y="1128782"/>
            <a:ext cx="11018400" cy="0"/>
          </a:xfrm>
          <a:prstGeom prst="straightConnector1">
            <a:avLst/>
          </a:prstGeom>
          <a:noFill/>
          <a:ln w="15225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g3ec461e91f0_0_477"/>
          <p:cNvSpPr/>
          <p:nvPr/>
        </p:nvSpPr>
        <p:spPr>
          <a:xfrm>
            <a:off x="628934" y="1332954"/>
            <a:ext cx="1060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569"/>
                </a:solidFill>
              </a:rPr>
              <a:t>Five models were trained on the same feature matrix and evaluated using the same metrics.</a:t>
            </a:r>
            <a:endParaRPr sz="1600">
              <a:solidFill>
                <a:srgbClr val="475569"/>
              </a:solidFill>
            </a:endParaRPr>
          </a:p>
        </p:txBody>
      </p:sp>
      <p:sp>
        <p:nvSpPr>
          <p:cNvPr id="157" name="Google Shape;157;g3ec461e91f0_0_477"/>
          <p:cNvSpPr/>
          <p:nvPr/>
        </p:nvSpPr>
        <p:spPr>
          <a:xfrm>
            <a:off x="636468" y="2008811"/>
            <a:ext cx="40827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1914"/>
              <a:buFont typeface="Arial"/>
              <a:buNone/>
            </a:pPr>
            <a:r>
              <a:rPr lang="en-US" sz="1914" b="1" i="0" u="none" strike="noStrike" cap="none">
                <a:solidFill>
                  <a:srgbClr val="0B1F4D"/>
                </a:solidFill>
                <a:latin typeface="Arial"/>
                <a:ea typeface="Arial"/>
                <a:cs typeface="Arial"/>
                <a:sym typeface="Arial"/>
              </a:rPr>
              <a:t>Evaluated models</a:t>
            </a:r>
            <a:endParaRPr sz="19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ec461e91f0_0_477"/>
          <p:cNvSpPr/>
          <p:nvPr/>
        </p:nvSpPr>
        <p:spPr>
          <a:xfrm>
            <a:off x="539262" y="2737863"/>
            <a:ext cx="5055000" cy="28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t" anchorCtr="0">
            <a:noAutofit/>
          </a:bodyPr>
          <a:lstStyle/>
          <a:p>
            <a:pPr marL="486033" marR="0" lvl="0" indent="-37802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6"/>
              <a:buFont typeface="Arial"/>
              <a:buChar char="-"/>
            </a:pPr>
            <a:r>
              <a:rPr lang="en-US" sz="2126">
                <a:solidFill>
                  <a:srgbClr val="0F172A"/>
                </a:solidFill>
              </a:rPr>
              <a:t>Logistic Regression</a:t>
            </a:r>
            <a:endParaRPr sz="2126">
              <a:solidFill>
                <a:srgbClr val="0F172A"/>
              </a:solidFill>
            </a:endParaRPr>
          </a:p>
          <a:p>
            <a:pPr marL="486033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26">
              <a:solidFill>
                <a:srgbClr val="0F172A"/>
              </a:solidFill>
            </a:endParaRPr>
          </a:p>
          <a:p>
            <a:pPr marL="486033" marR="0" lvl="0" indent="-37802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26"/>
              <a:buChar char="-"/>
            </a:pPr>
            <a:r>
              <a:rPr lang="en-US" sz="2126">
                <a:solidFill>
                  <a:srgbClr val="0F172A"/>
                </a:solidFill>
              </a:rPr>
              <a:t>Support Vector Machine (SVM)</a:t>
            </a:r>
            <a:endParaRPr sz="2126">
              <a:solidFill>
                <a:srgbClr val="0F172A"/>
              </a:solidFill>
            </a:endParaRPr>
          </a:p>
          <a:p>
            <a:pPr marL="486033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26">
              <a:solidFill>
                <a:srgbClr val="0F172A"/>
              </a:solidFill>
            </a:endParaRPr>
          </a:p>
          <a:p>
            <a:pPr marL="486033" marR="0" lvl="0" indent="-37802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26"/>
              <a:buChar char="-"/>
            </a:pPr>
            <a:r>
              <a:rPr lang="en-US" sz="2126">
                <a:solidFill>
                  <a:srgbClr val="0F172A"/>
                </a:solidFill>
              </a:rPr>
              <a:t>Random Forest</a:t>
            </a:r>
            <a:endParaRPr sz="2126">
              <a:solidFill>
                <a:srgbClr val="0F172A"/>
              </a:solidFill>
            </a:endParaRPr>
          </a:p>
          <a:p>
            <a:pPr marL="486033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26">
              <a:solidFill>
                <a:srgbClr val="0F172A"/>
              </a:solidFill>
            </a:endParaRPr>
          </a:p>
          <a:p>
            <a:pPr marL="486033" marR="0" lvl="0" indent="-37802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26"/>
              <a:buChar char="-"/>
            </a:pPr>
            <a:r>
              <a:rPr lang="en-US" sz="2126">
                <a:solidFill>
                  <a:srgbClr val="0F172A"/>
                </a:solidFill>
              </a:rPr>
              <a:t>Decision Tree</a:t>
            </a:r>
            <a:endParaRPr sz="2126">
              <a:solidFill>
                <a:srgbClr val="0F172A"/>
              </a:solidFill>
            </a:endParaRPr>
          </a:p>
          <a:p>
            <a:pPr marL="486033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26">
              <a:solidFill>
                <a:srgbClr val="0F172A"/>
              </a:solidFill>
            </a:endParaRPr>
          </a:p>
          <a:p>
            <a:pPr marL="486033" marR="0" lvl="0" indent="-37802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26"/>
              <a:buChar char="-"/>
            </a:pPr>
            <a:r>
              <a:rPr lang="en-US" sz="2126">
                <a:solidFill>
                  <a:srgbClr val="0F172A"/>
                </a:solidFill>
              </a:rPr>
              <a:t>Naive Bayes</a:t>
            </a:r>
            <a:endParaRPr sz="2126">
              <a:solidFill>
                <a:srgbClr val="0F172A"/>
              </a:solidFill>
            </a:endParaRPr>
          </a:p>
        </p:txBody>
      </p:sp>
      <p:cxnSp>
        <p:nvCxnSpPr>
          <p:cNvPr id="159" name="Google Shape;159;g3ec461e91f0_0_477"/>
          <p:cNvCxnSpPr/>
          <p:nvPr/>
        </p:nvCxnSpPr>
        <p:spPr>
          <a:xfrm>
            <a:off x="5865945" y="1883052"/>
            <a:ext cx="20700" cy="4001100"/>
          </a:xfrm>
          <a:prstGeom prst="straightConnector1">
            <a:avLst/>
          </a:prstGeom>
          <a:noFill/>
          <a:ln w="135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" name="Google Shape;160;g3ec461e91f0_0_477"/>
          <p:cNvSpPr/>
          <p:nvPr/>
        </p:nvSpPr>
        <p:spPr>
          <a:xfrm>
            <a:off x="6809813" y="1958280"/>
            <a:ext cx="4665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1914"/>
              <a:buFont typeface="Arial"/>
              <a:buNone/>
            </a:pPr>
            <a:r>
              <a:rPr lang="en-US" sz="1914" b="1" i="0" u="none" strike="noStrike" cap="none">
                <a:solidFill>
                  <a:srgbClr val="0B1F4D"/>
                </a:solidFill>
                <a:latin typeface="Arial"/>
                <a:ea typeface="Arial"/>
                <a:cs typeface="Arial"/>
                <a:sym typeface="Arial"/>
              </a:rPr>
              <a:t>Evaluation metrics</a:t>
            </a:r>
            <a:endParaRPr sz="19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ec461e91f0_0_477"/>
          <p:cNvSpPr/>
          <p:nvPr/>
        </p:nvSpPr>
        <p:spPr>
          <a:xfrm>
            <a:off x="6858416" y="2541519"/>
            <a:ext cx="1701000" cy="330300"/>
          </a:xfrm>
          <a:prstGeom prst="roundRect">
            <a:avLst>
              <a:gd name="adj" fmla="val 23529"/>
            </a:avLst>
          </a:prstGeom>
          <a:solidFill>
            <a:srgbClr val="CBDBEF"/>
          </a:solidFill>
          <a:ln w="135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200" tIns="97200" rIns="97200" bIns="972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ec461e91f0_0_477"/>
          <p:cNvSpPr/>
          <p:nvPr/>
        </p:nvSpPr>
        <p:spPr>
          <a:xfrm>
            <a:off x="6936181" y="2599843"/>
            <a:ext cx="15456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4"/>
              <a:buFont typeface="Arial"/>
              <a:buNone/>
            </a:pPr>
            <a:r>
              <a:rPr lang="en-US" sz="904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sz="90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ec461e91f0_0_477"/>
          <p:cNvSpPr/>
          <p:nvPr/>
        </p:nvSpPr>
        <p:spPr>
          <a:xfrm>
            <a:off x="8996960" y="2541519"/>
            <a:ext cx="1701000" cy="330300"/>
          </a:xfrm>
          <a:prstGeom prst="roundRect">
            <a:avLst>
              <a:gd name="adj" fmla="val 23529"/>
            </a:avLst>
          </a:prstGeom>
          <a:solidFill>
            <a:srgbClr val="E1EBFA"/>
          </a:solidFill>
          <a:ln w="135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200" tIns="97200" rIns="97200" bIns="972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ec461e91f0_0_477"/>
          <p:cNvSpPr/>
          <p:nvPr/>
        </p:nvSpPr>
        <p:spPr>
          <a:xfrm>
            <a:off x="9074726" y="2599843"/>
            <a:ext cx="15456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4"/>
              <a:buFont typeface="Arial"/>
              <a:buNone/>
            </a:pPr>
            <a:r>
              <a:rPr lang="en-US" sz="904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90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ec461e91f0_0_477"/>
          <p:cNvSpPr/>
          <p:nvPr/>
        </p:nvSpPr>
        <p:spPr>
          <a:xfrm>
            <a:off x="6858416" y="3202523"/>
            <a:ext cx="1701000" cy="330300"/>
          </a:xfrm>
          <a:prstGeom prst="roundRect">
            <a:avLst>
              <a:gd name="adj" fmla="val 23529"/>
            </a:avLst>
          </a:prstGeom>
          <a:solidFill>
            <a:srgbClr val="CBDBEF"/>
          </a:solidFill>
          <a:ln w="135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200" tIns="97200" rIns="97200" bIns="972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ec461e91f0_0_477"/>
          <p:cNvSpPr/>
          <p:nvPr/>
        </p:nvSpPr>
        <p:spPr>
          <a:xfrm>
            <a:off x="6936181" y="3260847"/>
            <a:ext cx="15456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4"/>
              <a:buFont typeface="Arial"/>
              <a:buNone/>
            </a:pPr>
            <a:r>
              <a:rPr lang="en-US" sz="904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90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ec461e91f0_0_477"/>
          <p:cNvSpPr/>
          <p:nvPr/>
        </p:nvSpPr>
        <p:spPr>
          <a:xfrm>
            <a:off x="8996960" y="3202523"/>
            <a:ext cx="1701000" cy="330300"/>
          </a:xfrm>
          <a:prstGeom prst="roundRect">
            <a:avLst>
              <a:gd name="adj" fmla="val 23529"/>
            </a:avLst>
          </a:prstGeom>
          <a:solidFill>
            <a:srgbClr val="CBD5E1"/>
          </a:solidFill>
          <a:ln w="135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200" tIns="97200" rIns="97200" bIns="972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ec461e91f0_0_477"/>
          <p:cNvSpPr/>
          <p:nvPr/>
        </p:nvSpPr>
        <p:spPr>
          <a:xfrm>
            <a:off x="9074726" y="3260847"/>
            <a:ext cx="15456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4"/>
              <a:buFont typeface="Arial"/>
              <a:buNone/>
            </a:pPr>
            <a:r>
              <a:rPr lang="en-US" sz="904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90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ec461e91f0_0_477"/>
          <p:cNvSpPr/>
          <p:nvPr/>
        </p:nvSpPr>
        <p:spPr>
          <a:xfrm>
            <a:off x="6858416" y="3863528"/>
            <a:ext cx="1701000" cy="330300"/>
          </a:xfrm>
          <a:prstGeom prst="roundRect">
            <a:avLst>
              <a:gd name="adj" fmla="val 23529"/>
            </a:avLst>
          </a:prstGeom>
          <a:solidFill>
            <a:srgbClr val="CBDBEF"/>
          </a:solidFill>
          <a:ln w="135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200" tIns="97200" rIns="97200" bIns="972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ec461e91f0_0_477"/>
          <p:cNvSpPr/>
          <p:nvPr/>
        </p:nvSpPr>
        <p:spPr>
          <a:xfrm>
            <a:off x="6936181" y="3921851"/>
            <a:ext cx="15456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4"/>
              <a:buFont typeface="Arial"/>
              <a:buNone/>
            </a:pPr>
            <a:r>
              <a:rPr lang="en-US" sz="904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ROC-AUC</a:t>
            </a:r>
            <a:endParaRPr sz="90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ec461e91f0_0_477"/>
          <p:cNvSpPr/>
          <p:nvPr/>
        </p:nvSpPr>
        <p:spPr>
          <a:xfrm>
            <a:off x="6858416" y="4680062"/>
            <a:ext cx="4568700" cy="92370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48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200" tIns="97200" rIns="97200" bIns="972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ec461e91f0_0_477"/>
          <p:cNvSpPr/>
          <p:nvPr/>
        </p:nvSpPr>
        <p:spPr>
          <a:xfrm>
            <a:off x="7033388" y="4806431"/>
            <a:ext cx="42186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69"/>
              <a:buFont typeface="Arial"/>
              <a:buNone/>
            </a:pPr>
            <a:r>
              <a:rPr lang="en-US" sz="1169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Why recall matters</a:t>
            </a:r>
            <a:endParaRPr sz="116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ec461e91f0_0_477"/>
          <p:cNvSpPr/>
          <p:nvPr/>
        </p:nvSpPr>
        <p:spPr>
          <a:xfrm>
            <a:off x="7033388" y="5107771"/>
            <a:ext cx="42186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6"/>
              <a:buFont typeface="Arial"/>
              <a:buNone/>
            </a:pPr>
            <a:r>
              <a:rPr lang="en-US" sz="1106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 phishing detection, missed phishing emails are risky. A high recall means the model detects most phishing emails correctly.</a:t>
            </a:r>
            <a:endParaRPr sz="1106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c461e91f0_0_506"/>
          <p:cNvSpPr/>
          <p:nvPr/>
        </p:nvSpPr>
        <p:spPr>
          <a:xfrm>
            <a:off x="0" y="0"/>
            <a:ext cx="12191700" cy="384000"/>
          </a:xfrm>
          <a:prstGeom prst="rect">
            <a:avLst/>
          </a:prstGeom>
          <a:solidFill>
            <a:srgbClr val="0B1F4D"/>
          </a:solidFill>
          <a:ln w="12700" cap="flat" cmpd="sng">
            <a:solidFill>
              <a:srgbClr val="0B1F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ec461e91f0_0_506"/>
          <p:cNvSpPr/>
          <p:nvPr/>
        </p:nvSpPr>
        <p:spPr>
          <a:xfrm>
            <a:off x="594360" y="534937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F4D"/>
                </a:solidFill>
                <a:latin typeface="Play"/>
                <a:ea typeface="Play"/>
                <a:cs typeface="Play"/>
                <a:sym typeface="Play"/>
              </a:rPr>
              <a:t>Overall Result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g3ec461e91f0_0_506"/>
          <p:cNvCxnSpPr/>
          <p:nvPr/>
        </p:nvCxnSpPr>
        <p:spPr>
          <a:xfrm>
            <a:off x="594360" y="1128782"/>
            <a:ext cx="11018400" cy="0"/>
          </a:xfrm>
          <a:prstGeom prst="straightConnector1">
            <a:avLst/>
          </a:prstGeom>
          <a:noFill/>
          <a:ln w="15225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" name="Google Shape;182;g3ec461e91f0_0_506"/>
          <p:cNvSpPr/>
          <p:nvPr/>
        </p:nvSpPr>
        <p:spPr>
          <a:xfrm>
            <a:off x="628934" y="1332954"/>
            <a:ext cx="10607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569"/>
                </a:solidFill>
              </a:rPr>
              <a:t>Adding body_length produced small improvements for several models, but the main predictive power still came from TF-IDF.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None/>
            </a:pPr>
            <a:endParaRPr sz="1600">
              <a:solidFill>
                <a:srgbClr val="475569"/>
              </a:solidFill>
            </a:endParaRPr>
          </a:p>
        </p:txBody>
      </p:sp>
      <p:sp>
        <p:nvSpPr>
          <p:cNvPr id="183" name="Google Shape;183;g3ec461e91f0_0_506"/>
          <p:cNvSpPr/>
          <p:nvPr/>
        </p:nvSpPr>
        <p:spPr>
          <a:xfrm>
            <a:off x="1645762" y="2325100"/>
            <a:ext cx="29100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1726"/>
              <a:buFont typeface="Arial"/>
              <a:buNone/>
            </a:pPr>
            <a:r>
              <a:rPr lang="en-US" sz="1726" i="0" u="none" strike="noStrike" cap="none">
                <a:solidFill>
                  <a:srgbClr val="0B1F4D"/>
                </a:solidFill>
              </a:rPr>
              <a:t>Before adding body_length</a:t>
            </a:r>
            <a:endParaRPr sz="1726"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184" name="Google Shape;184;g3ec461e91f0_0_506" descr="/mnt/data/table_before_length_curr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450" y="2775880"/>
            <a:ext cx="5572703" cy="151490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ec461e91f0_0_506"/>
          <p:cNvSpPr/>
          <p:nvPr/>
        </p:nvSpPr>
        <p:spPr>
          <a:xfrm>
            <a:off x="7729659" y="2325100"/>
            <a:ext cx="26991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1726"/>
              <a:buFont typeface="Arial"/>
              <a:buNone/>
            </a:pPr>
            <a:r>
              <a:rPr lang="en-US" sz="1726" b="1" i="0" u="none" strike="noStrike" cap="none">
                <a:solidFill>
                  <a:srgbClr val="0B1F4D"/>
                </a:solidFill>
                <a:latin typeface="Arial"/>
                <a:ea typeface="Arial"/>
                <a:cs typeface="Arial"/>
                <a:sym typeface="Arial"/>
              </a:rPr>
              <a:t>After adding body_length</a:t>
            </a:r>
            <a:endParaRPr sz="1726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ec461e91f0_0_506" descr="/mnt/data/table_after_length_curren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5772" y="2704657"/>
            <a:ext cx="5626878" cy="1514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ec461e91f0_0_506"/>
          <p:cNvSpPr/>
          <p:nvPr/>
        </p:nvSpPr>
        <p:spPr>
          <a:xfrm>
            <a:off x="314461" y="4668927"/>
            <a:ext cx="5375400" cy="80850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50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8625" tIns="98625" rIns="98625" bIns="98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ec461e91f0_0_506"/>
          <p:cNvSpPr/>
          <p:nvPr/>
        </p:nvSpPr>
        <p:spPr>
          <a:xfrm>
            <a:off x="491991" y="4766493"/>
            <a:ext cx="50202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87"/>
              <a:buFont typeface="Arial"/>
              <a:buNone/>
            </a:pPr>
            <a:r>
              <a:rPr lang="en-US" sz="1187" b="1">
                <a:solidFill>
                  <a:srgbClr val="1D4ED8"/>
                </a:solidFill>
              </a:rPr>
              <a:t>Interpretation</a:t>
            </a:r>
            <a:endParaRPr sz="118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ec461e91f0_0_506"/>
          <p:cNvSpPr/>
          <p:nvPr/>
        </p:nvSpPr>
        <p:spPr>
          <a:xfrm>
            <a:off x="491991" y="5054838"/>
            <a:ext cx="5020200" cy="1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2"/>
              <a:buFont typeface="Arial"/>
              <a:buNone/>
            </a:pPr>
            <a:r>
              <a:rPr lang="en-US" sz="1122">
                <a:solidFill>
                  <a:srgbClr val="0F172A"/>
                </a:solidFill>
              </a:rPr>
              <a:t>Email length can support classification, especially for Random Forest, but it does not benefit every model equally.</a:t>
            </a:r>
            <a:endParaRPr sz="1122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2"/>
              <a:buFont typeface="Arial"/>
              <a:buNone/>
            </a:pPr>
            <a:endParaRPr sz="1122">
              <a:solidFill>
                <a:srgbClr val="0F172A"/>
              </a:solidFill>
            </a:endParaRPr>
          </a:p>
        </p:txBody>
      </p:sp>
      <p:sp>
        <p:nvSpPr>
          <p:cNvPr id="190" name="Google Shape;190;g3ec461e91f0_0_506"/>
          <p:cNvSpPr/>
          <p:nvPr/>
        </p:nvSpPr>
        <p:spPr>
          <a:xfrm>
            <a:off x="6391421" y="4668927"/>
            <a:ext cx="5375400" cy="80850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50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8625" tIns="98625" rIns="98625" bIns="98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ec461e91f0_0_506"/>
          <p:cNvSpPr/>
          <p:nvPr/>
        </p:nvSpPr>
        <p:spPr>
          <a:xfrm>
            <a:off x="6568951" y="4766493"/>
            <a:ext cx="50202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87"/>
              <a:buFont typeface="Arial"/>
              <a:buNone/>
            </a:pPr>
            <a:r>
              <a:rPr lang="en-US" sz="1187" b="1">
                <a:solidFill>
                  <a:srgbClr val="1D4ED8"/>
                </a:solidFill>
              </a:rPr>
              <a:t>Best Overall Model</a:t>
            </a:r>
            <a:endParaRPr sz="118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ec461e91f0_0_506"/>
          <p:cNvSpPr/>
          <p:nvPr/>
        </p:nvSpPr>
        <p:spPr>
          <a:xfrm>
            <a:off x="6568951" y="5054838"/>
            <a:ext cx="5020200" cy="1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2"/>
              <a:buFont typeface="Arial"/>
              <a:buNone/>
            </a:pPr>
            <a:r>
              <a:rPr lang="en-US" sz="1122">
                <a:solidFill>
                  <a:srgbClr val="0F172A"/>
                </a:solidFill>
              </a:rPr>
              <a:t>Random Forest achieved the highest accuracy, recall, F1-score, and ROC-AUC.</a:t>
            </a:r>
            <a:endParaRPr sz="1122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2"/>
              <a:buFont typeface="Arial"/>
              <a:buNone/>
            </a:pPr>
            <a:endParaRPr sz="1122">
              <a:solidFill>
                <a:srgbClr val="0F172A"/>
              </a:solidFill>
            </a:endParaRPr>
          </a:p>
        </p:txBody>
      </p:sp>
      <p:sp>
        <p:nvSpPr>
          <p:cNvPr id="193" name="Google Shape;193;g3ec461e91f0_0_506"/>
          <p:cNvSpPr/>
          <p:nvPr/>
        </p:nvSpPr>
        <p:spPr>
          <a:xfrm>
            <a:off x="5418418" y="5822120"/>
            <a:ext cx="1028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87"/>
              <a:buFont typeface="Arial"/>
              <a:buNone/>
            </a:pPr>
            <a:r>
              <a:rPr lang="en-US" sz="1187" b="1">
                <a:solidFill>
                  <a:srgbClr val="1D4ED8"/>
                </a:solidFill>
              </a:rPr>
              <a:t>Takeaway Key</a:t>
            </a:r>
            <a:endParaRPr sz="118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ec461e91f0_0_506"/>
          <p:cNvSpPr/>
          <p:nvPr/>
        </p:nvSpPr>
        <p:spPr>
          <a:xfrm>
            <a:off x="757473" y="6164971"/>
            <a:ext cx="10350000" cy="1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2"/>
              <a:buFont typeface="Arial"/>
              <a:buNone/>
            </a:pPr>
            <a:r>
              <a:rPr lang="en-US" sz="1122">
                <a:solidFill>
                  <a:srgbClr val="0F172A"/>
                </a:solidFill>
              </a:rPr>
              <a:t>Email length slightly improved Random Forest accuracy and F1-score, but the main predictive power still came from the TF-IDF representation of the email body.</a:t>
            </a:r>
            <a:endParaRPr sz="1122">
              <a:solidFill>
                <a:srgbClr val="0F172A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2"/>
              <a:buFont typeface="Arial"/>
              <a:buNone/>
            </a:pPr>
            <a:endParaRPr sz="1122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14974662c_0_12"/>
          <p:cNvSpPr/>
          <p:nvPr/>
        </p:nvSpPr>
        <p:spPr>
          <a:xfrm>
            <a:off x="0" y="0"/>
            <a:ext cx="12191700" cy="384000"/>
          </a:xfrm>
          <a:prstGeom prst="rect">
            <a:avLst/>
          </a:prstGeom>
          <a:solidFill>
            <a:srgbClr val="0B1F4D"/>
          </a:solidFill>
          <a:ln w="12700" cap="flat" cmpd="sng">
            <a:solidFill>
              <a:srgbClr val="0B1F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f14974662c_0_12"/>
          <p:cNvSpPr/>
          <p:nvPr/>
        </p:nvSpPr>
        <p:spPr>
          <a:xfrm>
            <a:off x="594360" y="534937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F4D"/>
                </a:solidFill>
                <a:latin typeface="Play"/>
                <a:ea typeface="Play"/>
                <a:cs typeface="Play"/>
                <a:sym typeface="Play"/>
              </a:rPr>
              <a:t>Best Model Diagnostic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g3f14974662c_0_12"/>
          <p:cNvCxnSpPr/>
          <p:nvPr/>
        </p:nvCxnSpPr>
        <p:spPr>
          <a:xfrm>
            <a:off x="594360" y="1128782"/>
            <a:ext cx="11018400" cy="0"/>
          </a:xfrm>
          <a:prstGeom prst="straightConnector1">
            <a:avLst/>
          </a:prstGeom>
          <a:noFill/>
          <a:ln w="15225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3" name="Google Shape;203;g3f14974662c_0_12"/>
          <p:cNvSpPr/>
          <p:nvPr/>
        </p:nvSpPr>
        <p:spPr>
          <a:xfrm>
            <a:off x="502820" y="1382394"/>
            <a:ext cx="5623500" cy="5120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00" cap="flat" cmpd="sng">
            <a:solidFill>
              <a:srgbClr val="CBD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f14974662c_0_12"/>
          <p:cNvSpPr/>
          <p:nvPr/>
        </p:nvSpPr>
        <p:spPr>
          <a:xfrm>
            <a:off x="612548" y="1473834"/>
            <a:ext cx="5404200" cy="310800"/>
          </a:xfrm>
          <a:prstGeom prst="roundRect">
            <a:avLst>
              <a:gd name="adj" fmla="val 16667"/>
            </a:avLst>
          </a:prstGeom>
          <a:solidFill>
            <a:srgbClr val="0B1F4D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14974662c_0_12"/>
          <p:cNvSpPr txBox="1"/>
          <p:nvPr/>
        </p:nvSpPr>
        <p:spPr>
          <a:xfrm>
            <a:off x="722276" y="1487266"/>
            <a:ext cx="51846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ROC Curve Comparison</a:t>
            </a:r>
            <a:endParaRPr/>
          </a:p>
        </p:txBody>
      </p:sp>
      <p:pic>
        <p:nvPicPr>
          <p:cNvPr id="206" name="Google Shape;206;g3f14974662c_0_12" descr="WhatsApp Image 2026-06-14 at 22.47.40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8750" y="1931034"/>
            <a:ext cx="4331698" cy="3428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f14974662c_0_12"/>
          <p:cNvSpPr txBox="1"/>
          <p:nvPr/>
        </p:nvSpPr>
        <p:spPr>
          <a:xfrm>
            <a:off x="868580" y="5497194"/>
            <a:ext cx="48921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091E4E"/>
                </a:solidFill>
                <a:latin typeface="Arial"/>
                <a:ea typeface="Arial"/>
                <a:cs typeface="Arial"/>
                <a:sym typeface="Arial"/>
              </a:rPr>
              <a:t>Random Forest achieved the highest ROC-AUC, indicating strong discriminative ability across thresholds.</a:t>
            </a:r>
            <a:endParaRPr/>
          </a:p>
        </p:txBody>
      </p:sp>
      <p:sp>
        <p:nvSpPr>
          <p:cNvPr id="208" name="Google Shape;208;g3f14974662c_0_12"/>
          <p:cNvSpPr/>
          <p:nvPr/>
        </p:nvSpPr>
        <p:spPr>
          <a:xfrm>
            <a:off x="6354980" y="1382394"/>
            <a:ext cx="5349300" cy="5120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00" cap="flat" cmpd="sng">
            <a:solidFill>
              <a:srgbClr val="CBD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14974662c_0_12"/>
          <p:cNvSpPr/>
          <p:nvPr/>
        </p:nvSpPr>
        <p:spPr>
          <a:xfrm>
            <a:off x="6464708" y="1473834"/>
            <a:ext cx="5129700" cy="310800"/>
          </a:xfrm>
          <a:prstGeom prst="roundRect">
            <a:avLst>
              <a:gd name="adj" fmla="val 16667"/>
            </a:avLst>
          </a:prstGeom>
          <a:solidFill>
            <a:srgbClr val="0B1F4D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14974662c_0_12"/>
          <p:cNvSpPr txBox="1"/>
          <p:nvPr/>
        </p:nvSpPr>
        <p:spPr>
          <a:xfrm>
            <a:off x="6574436" y="1487266"/>
            <a:ext cx="4910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Confusion Matrix — Random Forest</a:t>
            </a:r>
            <a:endParaRPr/>
          </a:p>
        </p:txBody>
      </p:sp>
      <p:pic>
        <p:nvPicPr>
          <p:cNvPr id="211" name="Google Shape;211;g3f14974662c_0_12" descr="ppt_confusion_rf_clea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30868" y="1839594"/>
            <a:ext cx="4351744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f14974662c_0_12"/>
          <p:cNvSpPr txBox="1"/>
          <p:nvPr/>
        </p:nvSpPr>
        <p:spPr>
          <a:xfrm>
            <a:off x="6720740" y="5497194"/>
            <a:ext cx="45720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091E4E"/>
                </a:solidFill>
                <a:latin typeface="Arial"/>
                <a:ea typeface="Arial"/>
                <a:cs typeface="Arial"/>
                <a:sym typeface="Arial"/>
              </a:rPr>
              <a:t>Random Forest produced only a small number of misclassifications: 22 false positives and 21 false negatives.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14974662c_0_569"/>
          <p:cNvSpPr/>
          <p:nvPr/>
        </p:nvSpPr>
        <p:spPr>
          <a:xfrm>
            <a:off x="0" y="0"/>
            <a:ext cx="12191700" cy="384000"/>
          </a:xfrm>
          <a:prstGeom prst="rect">
            <a:avLst/>
          </a:prstGeom>
          <a:solidFill>
            <a:srgbClr val="0B1F4D"/>
          </a:solidFill>
          <a:ln w="12700" cap="flat" cmpd="sng">
            <a:solidFill>
              <a:srgbClr val="0B1F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3f14974662c_0_569"/>
          <p:cNvSpPr/>
          <p:nvPr/>
        </p:nvSpPr>
        <p:spPr>
          <a:xfrm>
            <a:off x="594360" y="534937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F4D"/>
                </a:solidFill>
                <a:latin typeface="Play"/>
                <a:ea typeface="Play"/>
                <a:cs typeface="Play"/>
                <a:sym typeface="Play"/>
              </a:rPr>
              <a:t>Impact of Feature Engineering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g3f14974662c_0_569"/>
          <p:cNvCxnSpPr/>
          <p:nvPr/>
        </p:nvCxnSpPr>
        <p:spPr>
          <a:xfrm>
            <a:off x="594360" y="1128782"/>
            <a:ext cx="11018400" cy="0"/>
          </a:xfrm>
          <a:prstGeom prst="straightConnector1">
            <a:avLst/>
          </a:prstGeom>
          <a:noFill/>
          <a:ln w="15225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" name="Google Shape;221;g3f14974662c_0_569"/>
          <p:cNvSpPr/>
          <p:nvPr/>
        </p:nvSpPr>
        <p:spPr>
          <a:xfrm>
            <a:off x="628925" y="1332951"/>
            <a:ext cx="106071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475569"/>
                </a:solidFill>
              </a:rPr>
              <a:t>body_length provides additional structural information.</a:t>
            </a:r>
            <a:endParaRPr sz="1600">
              <a:solidFill>
                <a:srgbClr val="475569"/>
              </a:solidFill>
            </a:endParaRPr>
          </a:p>
        </p:txBody>
      </p:sp>
      <p:pic>
        <p:nvPicPr>
          <p:cNvPr id="222" name="Google Shape;222;g3f14974662c_0_569" descr="ppt_rf_before_af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929" y="2227580"/>
            <a:ext cx="5469660" cy="294319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f14974662c_0_569"/>
          <p:cNvSpPr txBox="1"/>
          <p:nvPr/>
        </p:nvSpPr>
        <p:spPr>
          <a:xfrm>
            <a:off x="7011847" y="2261394"/>
            <a:ext cx="4605900" cy="26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50" tIns="26650" rIns="66650" bIns="26650" anchor="t" anchorCtr="0">
            <a:spAutoFit/>
          </a:bodyPr>
          <a:lstStyle/>
          <a:p>
            <a:pPr marL="479795" marR="0" lvl="0" indent="-339854" algn="l" rtl="0">
              <a:spcBef>
                <a:spcPts val="420"/>
              </a:spcBef>
              <a:spcAft>
                <a:spcPts val="0"/>
              </a:spcAft>
              <a:buClr>
                <a:srgbClr val="142032"/>
              </a:buClr>
              <a:buSzPts val="1574"/>
              <a:buFont typeface="Arial"/>
              <a:buChar char="-"/>
            </a:pPr>
            <a:r>
              <a:rPr lang="en-US" sz="1574">
                <a:solidFill>
                  <a:srgbClr val="142032"/>
                </a:solidFill>
              </a:rPr>
              <a:t>Random Forest shows a slight improvement in Accuracy and F1-score after adding the email length feature.</a:t>
            </a:r>
            <a:endParaRPr sz="1574">
              <a:solidFill>
                <a:srgbClr val="142032"/>
              </a:solidFill>
            </a:endParaRPr>
          </a:p>
          <a:p>
            <a:pPr marL="479795" marR="0" lvl="0" indent="0" algn="l" rtl="0">
              <a:spcBef>
                <a:spcPts val="420"/>
              </a:spcBef>
              <a:spcAft>
                <a:spcPts val="0"/>
              </a:spcAft>
              <a:buNone/>
            </a:pPr>
            <a:endParaRPr sz="1574">
              <a:solidFill>
                <a:srgbClr val="142032"/>
              </a:solidFill>
            </a:endParaRPr>
          </a:p>
          <a:p>
            <a:pPr marL="479795" marR="0" lvl="0" indent="-339854" algn="l" rtl="0">
              <a:spcBef>
                <a:spcPts val="420"/>
              </a:spcBef>
              <a:spcAft>
                <a:spcPts val="0"/>
              </a:spcAft>
              <a:buClr>
                <a:srgbClr val="142032"/>
              </a:buClr>
              <a:buSzPts val="1574"/>
              <a:buFont typeface="Arial"/>
              <a:buChar char="-"/>
            </a:pPr>
            <a:r>
              <a:rPr lang="en-US" sz="1574">
                <a:solidFill>
                  <a:srgbClr val="142032"/>
                </a:solidFill>
                <a:latin typeface="Arial"/>
                <a:ea typeface="Arial"/>
                <a:cs typeface="Arial"/>
                <a:sym typeface="Arial"/>
              </a:rPr>
              <a:t>The improvement is small, meaning the main predictive power comes from TF-IDF text representation</a:t>
            </a:r>
            <a:endParaRPr sz="1574">
              <a:solidFill>
                <a:srgbClr val="142032"/>
              </a:solidFill>
            </a:endParaRPr>
          </a:p>
          <a:p>
            <a:pPr marL="479795" marR="0" lvl="0" indent="0" algn="l" rtl="0">
              <a:spcBef>
                <a:spcPts val="420"/>
              </a:spcBef>
              <a:spcAft>
                <a:spcPts val="0"/>
              </a:spcAft>
              <a:buNone/>
            </a:pPr>
            <a:endParaRPr sz="1574">
              <a:solidFill>
                <a:srgbClr val="142032"/>
              </a:solidFill>
            </a:endParaRPr>
          </a:p>
          <a:p>
            <a:pPr marL="479795" marR="0" lvl="0" indent="-339854" algn="l" rtl="0">
              <a:spcBef>
                <a:spcPts val="420"/>
              </a:spcBef>
              <a:spcAft>
                <a:spcPts val="0"/>
              </a:spcAft>
              <a:buClr>
                <a:srgbClr val="142032"/>
              </a:buClr>
              <a:buSzPts val="1574"/>
              <a:buChar char="-"/>
            </a:pPr>
            <a:r>
              <a:rPr lang="en-US" sz="1574">
                <a:solidFill>
                  <a:srgbClr val="142032"/>
                </a:solidFill>
                <a:latin typeface="Arial"/>
                <a:ea typeface="Arial"/>
                <a:cs typeface="Arial"/>
                <a:sym typeface="Arial"/>
              </a:rPr>
              <a:t>Different models respond differently to the added structural feature.</a:t>
            </a:r>
            <a:endParaRPr sz="1469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14974662c_0_445"/>
          <p:cNvSpPr/>
          <p:nvPr/>
        </p:nvSpPr>
        <p:spPr>
          <a:xfrm>
            <a:off x="0" y="0"/>
            <a:ext cx="12191700" cy="384000"/>
          </a:xfrm>
          <a:prstGeom prst="rect">
            <a:avLst/>
          </a:prstGeom>
          <a:solidFill>
            <a:srgbClr val="0B1F4D"/>
          </a:solidFill>
          <a:ln w="12700" cap="flat" cmpd="sng">
            <a:solidFill>
              <a:srgbClr val="0B1F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f14974662c_0_445"/>
          <p:cNvSpPr/>
          <p:nvPr/>
        </p:nvSpPr>
        <p:spPr>
          <a:xfrm>
            <a:off x="594360" y="534937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D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F4D"/>
                </a:solidFill>
                <a:latin typeface="Play"/>
                <a:ea typeface="Play"/>
                <a:cs typeface="Play"/>
                <a:sym typeface="Play"/>
              </a:rPr>
              <a:t>Conclusion, Limitation &amp; Future Work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g3f14974662c_0_445"/>
          <p:cNvCxnSpPr/>
          <p:nvPr/>
        </p:nvCxnSpPr>
        <p:spPr>
          <a:xfrm>
            <a:off x="594360" y="1128782"/>
            <a:ext cx="11018400" cy="0"/>
          </a:xfrm>
          <a:prstGeom prst="straightConnector1">
            <a:avLst/>
          </a:prstGeom>
          <a:noFill/>
          <a:ln w="15225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2" name="Google Shape;232;g3f14974662c_0_445"/>
          <p:cNvSpPr/>
          <p:nvPr/>
        </p:nvSpPr>
        <p:spPr>
          <a:xfrm>
            <a:off x="5171475" y="4672450"/>
            <a:ext cx="13902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87"/>
              <a:buFont typeface="Arial"/>
              <a:buNone/>
            </a:pPr>
            <a:r>
              <a:rPr lang="en-US" sz="1587" b="1">
                <a:solidFill>
                  <a:srgbClr val="1D4ED8"/>
                </a:solidFill>
              </a:rPr>
              <a:t>Takeaway Key</a:t>
            </a:r>
            <a:endParaRPr sz="158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f14974662c_0_445"/>
          <p:cNvSpPr/>
          <p:nvPr/>
        </p:nvSpPr>
        <p:spPr>
          <a:xfrm>
            <a:off x="814248" y="5145196"/>
            <a:ext cx="10350000" cy="1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" tIns="400" rIns="400" bIns="4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2"/>
              <a:buFont typeface="Arial"/>
              <a:buNone/>
            </a:pPr>
            <a:r>
              <a:rPr lang="en-US" sz="1522">
                <a:solidFill>
                  <a:srgbClr val="0F172A"/>
                </a:solidFill>
              </a:rPr>
              <a:t>A simple and resource-efficient feature pipeline — TF-IDF + email length — can support highly effective phishing email classification when paired with a strong ensemble model.</a:t>
            </a:r>
            <a:endParaRPr sz="1522">
              <a:solidFill>
                <a:srgbClr val="0F172A"/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2"/>
              <a:buFont typeface="Arial"/>
              <a:buNone/>
            </a:pPr>
            <a:endParaRPr sz="1522">
              <a:solidFill>
                <a:srgbClr val="0F172A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2"/>
              <a:buFont typeface="Arial"/>
              <a:buNone/>
            </a:pPr>
            <a:endParaRPr sz="1522">
              <a:solidFill>
                <a:srgbClr val="0F172A"/>
              </a:solidFill>
            </a:endParaRPr>
          </a:p>
        </p:txBody>
      </p:sp>
      <p:sp>
        <p:nvSpPr>
          <p:cNvPr id="234" name="Google Shape;234;g3f14974662c_0_445"/>
          <p:cNvSpPr/>
          <p:nvPr/>
        </p:nvSpPr>
        <p:spPr>
          <a:xfrm>
            <a:off x="8069563" y="1760385"/>
            <a:ext cx="3474600" cy="19203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39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f14974662c_0_445"/>
          <p:cNvSpPr/>
          <p:nvPr/>
        </p:nvSpPr>
        <p:spPr>
          <a:xfrm>
            <a:off x="8234155" y="1879257"/>
            <a:ext cx="3145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f14974662c_0_445"/>
          <p:cNvSpPr/>
          <p:nvPr/>
        </p:nvSpPr>
        <p:spPr>
          <a:xfrm>
            <a:off x="8234100" y="2235282"/>
            <a:ext cx="31455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Future studies can use newer datasets, richer metadata, URL-based features, and compare classical ML with deep learning or transformer-based models.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f14974662c_0_445"/>
          <p:cNvSpPr/>
          <p:nvPr/>
        </p:nvSpPr>
        <p:spPr>
          <a:xfrm>
            <a:off x="662913" y="1760372"/>
            <a:ext cx="3474600" cy="19203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39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14974662c_0_445"/>
          <p:cNvSpPr/>
          <p:nvPr/>
        </p:nvSpPr>
        <p:spPr>
          <a:xfrm>
            <a:off x="827504" y="1879245"/>
            <a:ext cx="3145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1D4ED8"/>
                </a:solidFill>
              </a:rPr>
              <a:t>Conclusion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f14974662c_0_445"/>
          <p:cNvSpPr/>
          <p:nvPr/>
        </p:nvSpPr>
        <p:spPr>
          <a:xfrm>
            <a:off x="827500" y="2275712"/>
            <a:ext cx="31455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Autofit/>
          </a:bodyPr>
          <a:lstStyle/>
          <a:p>
            <a:pPr marL="457200" marR="0" lvl="0" indent="-2946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Char char="-"/>
            </a:pPr>
            <a:r>
              <a:rPr lang="en-US" sz="1040">
                <a:solidFill>
                  <a:srgbClr val="0F172A"/>
                </a:solidFill>
              </a:rPr>
              <a:t>Machine learning can effectively classify phishing and legitimate emails.</a:t>
            </a:r>
            <a:endParaRPr sz="1040">
              <a:solidFill>
                <a:srgbClr val="0F172A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40">
              <a:solidFill>
                <a:srgbClr val="0F172A"/>
              </a:solidFill>
            </a:endParaRPr>
          </a:p>
          <a:p>
            <a:pPr marL="457200" marR="0" lvl="0" indent="-2946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Char char="-"/>
            </a:pPr>
            <a:r>
              <a:rPr lang="en-US" sz="1040">
                <a:solidFill>
                  <a:srgbClr val="0F172A"/>
                </a:solidFill>
              </a:rPr>
              <a:t>Random Forest achieved the best overall performance across key metrics.</a:t>
            </a:r>
            <a:endParaRPr sz="1040">
              <a:solidFill>
                <a:srgbClr val="0F172A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endParaRPr sz="1040">
              <a:solidFill>
                <a:srgbClr val="0F172A"/>
              </a:solidFill>
            </a:endParaRPr>
          </a:p>
        </p:txBody>
      </p:sp>
      <p:sp>
        <p:nvSpPr>
          <p:cNvPr id="240" name="Google Shape;240;g3f14974662c_0_445"/>
          <p:cNvSpPr/>
          <p:nvPr/>
        </p:nvSpPr>
        <p:spPr>
          <a:xfrm>
            <a:off x="4366238" y="1760372"/>
            <a:ext cx="3474600" cy="19203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39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f14974662c_0_445"/>
          <p:cNvSpPr/>
          <p:nvPr/>
        </p:nvSpPr>
        <p:spPr>
          <a:xfrm>
            <a:off x="4530830" y="1879245"/>
            <a:ext cx="3145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1D4ED8"/>
                </a:solidFill>
              </a:rPr>
              <a:t>Limitation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f14974662c_0_445"/>
          <p:cNvSpPr/>
          <p:nvPr/>
        </p:nvSpPr>
        <p:spPr>
          <a:xfrm>
            <a:off x="4530825" y="2235276"/>
            <a:ext cx="31455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r>
              <a:rPr lang="en-US" sz="1040">
                <a:solidFill>
                  <a:srgbClr val="0F172A"/>
                </a:solidFill>
              </a:rPr>
              <a:t>The experiment used only the CEAS08 dataset and focused mainly on email body text and email length. Sender, subject, URL, and temporal features were not fully explored.</a:t>
            </a:r>
            <a:endParaRPr sz="1040">
              <a:solidFill>
                <a:srgbClr val="0F172A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endParaRPr sz="104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14974662c_0_432"/>
          <p:cNvSpPr/>
          <p:nvPr/>
        </p:nvSpPr>
        <p:spPr>
          <a:xfrm>
            <a:off x="8778575" y="0"/>
            <a:ext cx="3413100" cy="6858000"/>
          </a:xfrm>
          <a:prstGeom prst="rect">
            <a:avLst/>
          </a:prstGeom>
          <a:solidFill>
            <a:srgbClr val="0B1F4D"/>
          </a:solidFill>
          <a:ln w="12700" cap="flat" cmpd="sng">
            <a:solidFill>
              <a:srgbClr val="0B1F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" name="Google Shape;249;g3f14974662c_0_432"/>
          <p:cNvGrpSpPr/>
          <p:nvPr/>
        </p:nvGrpSpPr>
        <p:grpSpPr>
          <a:xfrm>
            <a:off x="706850" y="2007925"/>
            <a:ext cx="7286400" cy="2675041"/>
            <a:chOff x="740275" y="2532125"/>
            <a:chExt cx="7286400" cy="2675041"/>
          </a:xfrm>
        </p:grpSpPr>
        <p:grpSp>
          <p:nvGrpSpPr>
            <p:cNvPr id="250" name="Google Shape;250;g3f14974662c_0_432"/>
            <p:cNvGrpSpPr/>
            <p:nvPr/>
          </p:nvGrpSpPr>
          <p:grpSpPr>
            <a:xfrm>
              <a:off x="740275" y="2532125"/>
              <a:ext cx="7286400" cy="1626652"/>
              <a:chOff x="757000" y="2615675"/>
              <a:chExt cx="7286400" cy="1626652"/>
            </a:xfrm>
          </p:grpSpPr>
          <p:sp>
            <p:nvSpPr>
              <p:cNvPr id="251" name="Google Shape;251;g3f14974662c_0_432"/>
              <p:cNvSpPr/>
              <p:nvPr/>
            </p:nvSpPr>
            <p:spPr>
              <a:xfrm>
                <a:off x="757000" y="2615675"/>
                <a:ext cx="7286400" cy="5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0" tIns="450" rIns="450" bIns="4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B1F4D"/>
                  </a:buClr>
                  <a:buSzPts val="3641"/>
                  <a:buFont typeface="Play"/>
                  <a:buNone/>
                </a:pPr>
                <a:r>
                  <a:rPr lang="en-US" sz="10000" b="1">
                    <a:solidFill>
                      <a:srgbClr val="0B1F4D"/>
                    </a:solidFill>
                    <a:latin typeface="Play"/>
                    <a:ea typeface="Play"/>
                    <a:cs typeface="Play"/>
                    <a:sym typeface="Play"/>
                  </a:rPr>
                  <a:t>Thank You</a:t>
                </a:r>
                <a:endParaRPr sz="10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2" name="Google Shape;252;g3f14974662c_0_432"/>
              <p:cNvCxnSpPr/>
              <p:nvPr/>
            </p:nvCxnSpPr>
            <p:spPr>
              <a:xfrm>
                <a:off x="944406" y="4242327"/>
                <a:ext cx="6229800" cy="0"/>
              </a:xfrm>
              <a:prstGeom prst="straightConnector1">
                <a:avLst/>
              </a:prstGeom>
              <a:noFill/>
              <a:ln w="29825" cap="flat" cmpd="sng">
                <a:solidFill>
                  <a:srgbClr val="1D4ED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253" name="Google Shape;253;g3f14974662c_0_432"/>
            <p:cNvSpPr/>
            <p:nvPr/>
          </p:nvSpPr>
          <p:spPr>
            <a:xfrm>
              <a:off x="961107" y="4364807"/>
              <a:ext cx="53442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0" tIns="450" rIns="450" bIns="4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762"/>
                <a:buFont typeface="Arial"/>
                <a:buNone/>
              </a:pPr>
              <a:r>
                <a:rPr lang="en-US" sz="1000" b="1">
                  <a:solidFill>
                    <a:srgbClr val="475569"/>
                  </a:solidFill>
                </a:rPr>
                <a:t>Performance Comparison of Machine Learning Models in Phishing Email Classification</a:t>
              </a:r>
              <a:endParaRPr sz="1000" b="1">
                <a:solidFill>
                  <a:srgbClr val="475569"/>
                </a:solidFill>
              </a:endParaRPr>
            </a:p>
          </p:txBody>
        </p:sp>
        <p:sp>
          <p:nvSpPr>
            <p:cNvPr id="254" name="Google Shape;254;g3f14974662c_0_432"/>
            <p:cNvSpPr/>
            <p:nvPr/>
          </p:nvSpPr>
          <p:spPr>
            <a:xfrm>
              <a:off x="961112" y="4690566"/>
              <a:ext cx="6444600" cy="51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0" tIns="450" rIns="450" bIns="4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645"/>
                <a:buFont typeface="Arial"/>
                <a:buNone/>
              </a:pPr>
              <a:r>
                <a:rPr lang="en-US" sz="1200" b="1">
                  <a:solidFill>
                    <a:srgbClr val="0F172A"/>
                  </a:solidFill>
                </a:rPr>
                <a:t>2802416141 - </a:t>
              </a:r>
              <a:r>
                <a:rPr lang="en-US" sz="1200" b="1" i="0" u="none" strike="noStrike" cap="none">
                  <a:solidFill>
                    <a:srgbClr val="0F172A"/>
                  </a:solidFill>
                </a:rPr>
                <a:t>Nickholas Steven Sukmadjaja</a:t>
              </a:r>
              <a:endParaRPr sz="1200" b="1" i="0" u="none" strike="noStrike" cap="none">
                <a:solidFill>
                  <a:schemeClr val="dk1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645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F172A"/>
                  </a:solidFill>
                </a:rPr>
                <a:t>Computer Science Department, Bina Nusantara University</a:t>
              </a:r>
              <a:endParaRPr sz="1200" b="1" i="0" u="none" strike="noStrike" cap="none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954</Words>
  <Application>Microsoft Office PowerPoint</Application>
  <PresentationFormat>Widescreen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OpenAI</dc:creator>
  <cp:lastModifiedBy>laptop hp</cp:lastModifiedBy>
  <cp:revision>2</cp:revision>
  <dcterms:created xsi:type="dcterms:W3CDTF">2026-06-15T16:16:34Z</dcterms:created>
  <dcterms:modified xsi:type="dcterms:W3CDTF">2026-06-30T06:11:35Z</dcterms:modified>
</cp:coreProperties>
</file>